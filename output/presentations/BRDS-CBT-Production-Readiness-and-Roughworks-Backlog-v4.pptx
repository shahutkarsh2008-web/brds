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d28c1c88684596" /><Relationship Type="http://schemas.openxmlformats.org/officeDocument/2006/relationships/extended-properties" Target="/docProps/app.xml" Id="Rc47e4ddb7b274d7e" /><Relationship Type="http://schemas.openxmlformats.org/officeDocument/2006/relationships/officeDocument" Target="/ppt/presentation.xml" Id="R1562728b2a2a4f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2ffbd3afa54dec"/>
  </p:sldMasterIdLst>
  <p:notesMasterIdLst>
    <p:notesMasterId xmlns:r="http://schemas.openxmlformats.org/officeDocument/2006/relationships" r:id="Rab58d9d1798543bd"/>
  </p:notesMasterIdLst>
  <p:sldIdLst>
    <p:sldId xmlns:r="http://schemas.openxmlformats.org/officeDocument/2006/relationships" id="256" r:id="R907189dae84a4f69"/>
    <p:sldId xmlns:r="http://schemas.openxmlformats.org/officeDocument/2006/relationships" id="257" r:id="R4a610ae0cbd34600"/>
    <p:sldId xmlns:r="http://schemas.openxmlformats.org/officeDocument/2006/relationships" id="258" r:id="R045abb2bfcb24820"/>
    <p:sldId xmlns:r="http://schemas.openxmlformats.org/officeDocument/2006/relationships" id="259" r:id="R4198caec12bc4f19"/>
    <p:sldId xmlns:r="http://schemas.openxmlformats.org/officeDocument/2006/relationships" id="260" r:id="R559554ea0362471a"/>
    <p:sldId xmlns:r="http://schemas.openxmlformats.org/officeDocument/2006/relationships" id="261" r:id="Re10dac50c6814666"/>
    <p:sldId xmlns:r="http://schemas.openxmlformats.org/officeDocument/2006/relationships" id="262" r:id="Ref9e18fe4dc547b8"/>
    <p:sldId xmlns:r="http://schemas.openxmlformats.org/officeDocument/2006/relationships" id="263" r:id="Redf1643d99844d97"/>
    <p:sldId xmlns:r="http://schemas.openxmlformats.org/officeDocument/2006/relationships" id="264" r:id="R2731dcc5530549af"/>
    <p:sldId xmlns:r="http://schemas.openxmlformats.org/officeDocument/2006/relationships" id="265" r:id="R11668b9b669b4279"/>
    <p:sldId xmlns:r="http://schemas.openxmlformats.org/officeDocument/2006/relationships" id="266" r:id="Rea3f34a450d84622"/>
    <p:sldId xmlns:r="http://schemas.openxmlformats.org/officeDocument/2006/relationships" id="267" r:id="R8a9c6fb875964f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e1739d7a6c441f" /><Relationship Type="http://schemas.openxmlformats.org/officeDocument/2006/relationships/slideMaster" Target="/ppt/slideMasters/slideMaster1.xml" Id="R222ffbd3afa54dec" /><Relationship Type="http://schemas.openxmlformats.org/officeDocument/2006/relationships/notesMaster" Target="/ppt/notesMasters/notesMaster1.xml" Id="Rab58d9d1798543bd" /><Relationship Type="http://schemas.openxmlformats.org/officeDocument/2006/relationships/presProps" Target="/ppt/presProps.xml" Id="R887f81e363b44f12" /><Relationship Type="http://schemas.openxmlformats.org/officeDocument/2006/relationships/tableStyles" Target="/ppt/tableStyles.xml" Id="R200e0a23fb7b489c" /><Relationship Type="http://schemas.openxmlformats.org/officeDocument/2006/relationships/slide" Target="/ppt/slides/slide1.xml" Id="R907189dae84a4f69" /><Relationship Type="http://schemas.openxmlformats.org/officeDocument/2006/relationships/slide" Target="/ppt/slides/slide2.xml" Id="R4a610ae0cbd34600" /><Relationship Type="http://schemas.openxmlformats.org/officeDocument/2006/relationships/slide" Target="/ppt/slides/slide3.xml" Id="R045abb2bfcb24820" /><Relationship Type="http://schemas.openxmlformats.org/officeDocument/2006/relationships/slide" Target="/ppt/slides/slide4.xml" Id="R4198caec12bc4f19" /><Relationship Type="http://schemas.openxmlformats.org/officeDocument/2006/relationships/slide" Target="/ppt/slides/slide5.xml" Id="R559554ea0362471a" /><Relationship Type="http://schemas.openxmlformats.org/officeDocument/2006/relationships/slide" Target="/ppt/slides/slide6.xml" Id="Re10dac50c6814666" /><Relationship Type="http://schemas.openxmlformats.org/officeDocument/2006/relationships/slide" Target="/ppt/slides/slide7.xml" Id="Ref9e18fe4dc547b8" /><Relationship Type="http://schemas.openxmlformats.org/officeDocument/2006/relationships/slide" Target="/ppt/slides/slide8.xml" Id="Redf1643d99844d97" /><Relationship Type="http://schemas.openxmlformats.org/officeDocument/2006/relationships/slide" Target="/ppt/slides/slide9.xml" Id="R2731dcc5530549af" /><Relationship Type="http://schemas.openxmlformats.org/officeDocument/2006/relationships/slide" Target="/ppt/slides/slide10.xml" Id="R11668b9b669b4279" /><Relationship Type="http://schemas.openxmlformats.org/officeDocument/2006/relationships/slide" Target="/ppt/slides/slide11.xml" Id="Rea3f34a450d84622" /><Relationship Type="http://schemas.openxmlformats.org/officeDocument/2006/relationships/slide" Target="/ppt/slides/slide12.xml" Id="R8a9c6fb875964f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a4570350414e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89759551054d6b" /><Relationship Type="http://schemas.openxmlformats.org/officeDocument/2006/relationships/notesMaster" Target="/ppt/notesMasters/notesMaster1.xml" Id="R12bc5a61f19e45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f57710769342a2" /><Relationship Type="http://schemas.openxmlformats.org/officeDocument/2006/relationships/notesMaster" Target="/ppt/notesMasters/notesMaster1.xml" Id="R3679038baaf54f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2b222c03c545f3" /><Relationship Type="http://schemas.openxmlformats.org/officeDocument/2006/relationships/notesMaster" Target="/ppt/notesMasters/notesMaster1.xml" Id="R382f67b7d8e44f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d6fc592b994868" /><Relationship Type="http://schemas.openxmlformats.org/officeDocument/2006/relationships/notesMaster" Target="/ppt/notesMasters/notesMaster1.xml" Id="Rf9c2f35fb83642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88872459614a53" /><Relationship Type="http://schemas.openxmlformats.org/officeDocument/2006/relationships/notesMaster" Target="/ppt/notesMasters/notesMaster1.xml" Id="R89b50e4420804b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5ac7a559ec4f27" /><Relationship Type="http://schemas.openxmlformats.org/officeDocument/2006/relationships/notesMaster" Target="/ppt/notesMasters/notesMaster1.xml" Id="R087c7daf8afd40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2ecc51de944a2c" /><Relationship Type="http://schemas.openxmlformats.org/officeDocument/2006/relationships/notesMaster" Target="/ppt/notesMasters/notesMaster1.xml" Id="Rdf7c786d6e0944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2c832b3d3349a2" /><Relationship Type="http://schemas.openxmlformats.org/officeDocument/2006/relationships/notesMaster" Target="/ppt/notesMasters/notesMaster1.xml" Id="R50f8f5023ed84f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ea0e3203a64ceb" /><Relationship Type="http://schemas.openxmlformats.org/officeDocument/2006/relationships/notesMaster" Target="/ppt/notesMasters/notesMaster1.xml" Id="R6b2a5e11513b4d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2f7aa4f2fd499e" /><Relationship Type="http://schemas.openxmlformats.org/officeDocument/2006/relationships/notesMaster" Target="/ppt/notesMasters/notesMaster1.xml" Id="R604ff71217ac4d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302d7f72114569" /><Relationship Type="http://schemas.openxmlformats.org/officeDocument/2006/relationships/notesMaster" Target="/ppt/notesMasters/notesMaster1.xml" Id="R3b8501ee1d7f48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b94ebdb84b4820" /><Relationship Type="http://schemas.openxmlformats.org/officeDocument/2006/relationships/notesMaster" Target="/ppt/notesMasters/notesMaster1.xml" Id="R3880eebabad7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from local repository evidence and public Roughworks pages reviewed 05 Oct 2026. This is an engineering/product backlog, not a claim of hosted production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verification run during this audit: npm test passed 87/87. node scratch/verify-chrome-browser.js passed 41 scenarios on Microsoft Edge 154: 10 tabs at widths 1440, 1024, 768, and 360 CSS pixels, no horizontal overflow. Phase5 evidence also records a complete scored-paper loop and zero browser console/5xx errors. Isolated local runs do not certify a public host, live SMS, real database or production credentials.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instructions explicitly defer real provider account setup, credentials, OTP delivery and hosted acceptance to Phase 8. Current workspace had a local .env but no production URL supplied; secret values were not read or placed in this deck. Verify against CODEX_TASK_PLAN.md Phase 5 acceptance and deployment checklist with authorized production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commands: recursive Get-ChildItem inventory yielded 56 PDFs: 26 UCEED (including spatial worksheet/key), 23 CEED (question papers 2010–25 with 2016 split in two, six answer-key PDFs for 2020–25), six NIFT CAT/GAT papers (2016–18), one unclassified media_1790718535711.pdf. pdfinfo captured page counts; SHA-256 grouping found no exact duplicate. Isolated SQLite seeding imported 16 configured fixtures idempotently; definitions contain 915 total questions, including 698 official UCEED questions from 2017–26. UCEED 2015/16 have 100/80 question counts on Roughworks benchmark = 180 missing. Do not treat documents as imported just because present on disk. Verify transcription, diagrams, answer key, marking scheme, source permissions and attribution before scored launch. Public benchmark references: https://roughworks.in/papers/uceed and https://roughworks.in/papers/ceed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fixture/seed audit: scripts/seed-exams.js lists 16 fixtures;ten official UCEED papers are present (2017–26), including a 2025 Part A fixture, with 698 questions total. Roughworks current public benchmark pages: https://roughworks.in/papers/uceed (12, 878); https://roughworks.in/papers/ceed (9, 382); https://roughworks.in/papers/nid-ug (2, 29); https://roughworks.in/papers/nift (3 papers, 300, confirmed https://roughworks.in/). Dates are a snapshot, not a permanent competitor claim. Local seeded practice sets and mini mock are excluded from PYQ totals.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evidence: npm test contains assignment/security/answer-key tests, practice topic/skip-done/bookmark tests, saved-set and attempt recovery paths. Competitor benchmark emphasizes free/no-login paper access, live scoring/progress save and topic-by-year links: https://roughworks.in/papers/uceed and https://roughworks.in/syllabus/uceed. Roadmap recommendation is an inference from that observed feature set and this repository's current configured seed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current feature claims are verified in test/student-features.test.js and test/workspace-v2-phase4.test.js: per-account GK review, private sketch CRUD and quiz scores. Public Roughworks benchmark: https://roughworks.in/gk (five public questions/day, 660+ bank, flashcards and Wrong Box); https://roughworks.in/drawings (121 prompts), example rubric https://roughworks.in/drawings/uceed-2026-sketching. Public user-uploaded artwork requires consent, moderation, deletion, abuse reporting and privacy review; benchmark privacy model: https://roughworks.in/privacy. These are feature gaps inferred from competitor pages vs locally verified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Roughworks homepage describes streaks, mastery, mock history and an AI-surfaced next action: https://roughworks.in/. Its public guides currently list eight pieces: https://roughworks.in/guides. Privacy page explains optional OAuth, account activity, deletion request, opt-in community sketches and vendors: https://roughworks.in/privacy. Proposed parity requirements are recommendations based on public observations; review applicable laws and institutional policy with the product owner before collection/payment/community launch.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Snapshot from https://roughworks.in/ reviewed 05 Oct 2026 advertises a dated 2027 all-India mock with limited seats, ₹99, timed Part A+B, rank/analysis, human-evaluated Part B. This can change after the event date. Suggested payment, refund and review workflows are inferred requirements if BRDS chooses to compete in paid mocks; do not implement or collect payment without business, provider and legal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Priorities and effort estimates are planning judgments, not researched facts or committed deadlines. Biggest measurable bank gaps on the evidence snapshot: UCEED 180 questions; CEED 382; NID 29; NIFT 300. UCEED/CEED/NIFT have local source PDFs but permissions, question transcription and QA remain; no NID PDF was found in the 56-file local inventory. Content should be sourced under appropriate rights with attribution. Current competitor figures: https://roughworks.in/papers/uceed, https://roughworks.in/papers/ceed, https://roughworks.in/papers/nid-ug, https://roughworks.in/papers/nift.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reference checks: `npm test` = 87 pass / 0 fail; `node scratch/verify-chrome-browser.js` = 41/41. Project instructions defer real OTP/provider accounts/hosted integration acceptance to Phase 8. User request asks production debug before testing; interpretation: local debugging is complete and formal QA may start, but hosted production cannot be certified without deployment target and authorized real provider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URLs reviewed 05 Oct 2026: https://roughworks.in/; https://roughworks.in/exams; https://roughworks.in/papers/uceed; https://roughworks.in/papers/ceed; https://roughworks.in/papers/nid-ug; https://roughworks.in/papers/nift; https://roughworks.in/syllabus/uceed; https://roughworks.in/syllabus/ceed; https://roughworks.in/gk; https://roughworks.in/drawings; https://roughworks.in/drawings/uceed-2026-sketching; https://roughworks.in/guides; https://roughworks.in/privacy. Local evidence: PROGRESS_LOG.md; CODEX_TASK_PLAN.md; scripts/seed-exams.js; test/*.test.js; reports/phase5-browser-evidence.json. Facts may change as Roughworks updates the site. No confidential local values were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f3c0425f0d43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7c69e6168a462b" /><Relationship Type="http://schemas.openxmlformats.org/officeDocument/2006/relationships/slideLayout" Target="/ppt/slideLayouts/slideLayout1.xml" Id="R31bc134e50e04b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bc134e50e04b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7e5f3b1894b05" /><Relationship Type="http://schemas.openxmlformats.org/officeDocument/2006/relationships/notesSlide" Target="/ppt/notesSlides/notesSlide1.xml" Id="R50295f74940d4f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da600533d4848" /><Relationship Type="http://schemas.openxmlformats.org/officeDocument/2006/relationships/notesSlide" Target="/ppt/notesSlides/notesSlide2.xml" Id="R45e7a0679c4b41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d76cd41324c0d" /><Relationship Type="http://schemas.openxmlformats.org/officeDocument/2006/relationships/notesSlide" Target="/ppt/notesSlides/notesSlide3.xml" Id="R782b288c7a3a42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9e1c7e57949ad" /><Relationship Type="http://schemas.openxmlformats.org/officeDocument/2006/relationships/notesSlide" Target="/ppt/notesSlides/notesSlide4.xml" Id="R54c71c4e65b546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d738648c9449a" /><Relationship Type="http://schemas.openxmlformats.org/officeDocument/2006/relationships/notesSlide" Target="/ppt/notesSlides/notesSlide5.xml" Id="R5e92976e692044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2852f4f5b403e" /><Relationship Type="http://schemas.openxmlformats.org/officeDocument/2006/relationships/notesSlide" Target="/ppt/notesSlides/notesSlide6.xml" Id="R5ea5e4c5ccac46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b699757144fc9" /><Relationship Type="http://schemas.openxmlformats.org/officeDocument/2006/relationships/notesSlide" Target="/ppt/notesSlides/notesSlide7.xml" Id="R11c88670995d4d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312c5c9b54928" /><Relationship Type="http://schemas.openxmlformats.org/officeDocument/2006/relationships/notesSlide" Target="/ppt/notesSlides/notesSlide8.xml" Id="Rc4d48a9763df45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40b7b2b2140e0" /><Relationship Type="http://schemas.openxmlformats.org/officeDocument/2006/relationships/notesSlide" Target="/ppt/notesSlides/notesSlide9.xml" Id="R4558c2e310c34b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32a1e1c4345e4" /><Relationship Type="http://schemas.openxmlformats.org/officeDocument/2006/relationships/notesSlide" Target="/ppt/notesSlides/notesSlide10.xml" Id="Rd3b57df7da2448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c6b616e634073" /><Relationship Type="http://schemas.openxmlformats.org/officeDocument/2006/relationships/notesSlide" Target="/ppt/notesSlides/notesSlide11.xml" Id="R419a78fd99f946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8a24e5c604cc8" /><Relationship Type="http://schemas.openxmlformats.org/officeDocument/2006/relationships/notesSlide" Target="/ppt/notesSlides/notesSlide12.xml" Id="R1a1a842738b542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DC52419-1229-41E8-A77C-90196D08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B8041C9-6B09-4221-B8DB-2F80DC38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&amp; COMPETITIVE READINESS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89F0086-A7EA-484C-8A95-084AF32D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287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Production gate → testing plan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FA7FE20-C193-4DA9-931D-1A02A72B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CBT: verified today, remaining work to compete with Roughworks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70611D63-D689-4D0A-94A1-3C8A082D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78CA0529-134A-4EBB-9991-7B059D23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Evidence reviewed: 05 October 2026</a:t>
            </a:r>
          </a:p>
        </p:txBody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87EB78CD-2C5D-4C89-BC0C-1E7897E0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Local code is ready for structured QA. Hosted production acceptance still needs its own gate.</a:t>
            </a:r>
          </a:p>
        </p:txBody>
      </p:sp>
    </p:spTree>
    <p:extLst>
      <p:ext uri="{BB962C8B-B14F-4D97-AF65-F5344CB8AC3E}">
        <p14:creationId xmlns:p14="http://schemas.microsoft.com/office/powerpoint/2010/main" val="18776316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">
            <a:extLst xmlns:a="http://schemas.openxmlformats.org/drawingml/2006/main">
              <a:ext uri="{FF2B5EF4-FFF2-40B4-BE49-F238E27FC236}">
                <a16:creationId xmlns:a16="http://schemas.microsoft.com/office/drawing/2014/main" id="{366741A6-3ADD-47C7-BD23-6A91733D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694FDD8-B770-4D7D-BAC7-D058E758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6D9ECC-5DFC-4168-9AE5-9E1DCFA7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Final debug: local checkpoint is green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5C9EBF3-3160-4C9F-A4A1-C1742A6B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FFFA222-AF5B-4785-8037-9B085C65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metric-value-automated tests">
            <a:extLst xmlns:a="http://schemas.openxmlformats.org/drawingml/2006/main">
              <a:ext uri="{FF2B5EF4-FFF2-40B4-BE49-F238E27FC236}">
                <a16:creationId xmlns:a16="http://schemas.microsoft.com/office/drawing/2014/main" id="{E74F575A-6191-4AC0-A1FB-EC7027B2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2D3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2D39A"/>
                </a:solidFill>
                <a:latin typeface="Arial"/>
                <a:ea typeface="Arial"/>
                <a:cs typeface="Arial"/>
              </a:rPr>
              <a:t>87/87</a:t>
            </a:r>
          </a:p>
        </p:txBody>
      </p:sp>
      <p:sp>
        <p:nvSpPr>
          <p:cNvPr id="7" name="metric-label-automated tests">
            <a:extLst xmlns:a="http://schemas.openxmlformats.org/drawingml/2006/main">
              <a:ext uri="{FF2B5EF4-FFF2-40B4-BE49-F238E27FC236}">
                <a16:creationId xmlns:a16="http://schemas.microsoft.com/office/drawing/2014/main" id="{1E05A249-2CE4-4837-BFD9-ECF7DC25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  <p:sp>
        <p:nvSpPr>
          <p:cNvPr id="8" name="metric-value-real Edge scenarios">
            <a:extLst xmlns:a="http://schemas.openxmlformats.org/drawingml/2006/main">
              <a:ext uri="{FF2B5EF4-FFF2-40B4-BE49-F238E27FC236}">
                <a16:creationId xmlns:a16="http://schemas.microsoft.com/office/drawing/2014/main" id="{2B69BE37-7BDB-4497-B8A7-BE9F4AAB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62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2D3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2D39A"/>
                </a:solidFill>
                <a:latin typeface="Arial"/>
                <a:ea typeface="Arial"/>
                <a:cs typeface="Arial"/>
              </a:rPr>
              <a:t>41/41</a:t>
            </a:r>
          </a:p>
        </p:txBody>
      </p:sp>
      <p:sp>
        <p:nvSpPr>
          <p:cNvPr id="9" name="metric-label-real Edge scenarios">
            <a:extLst xmlns:a="http://schemas.openxmlformats.org/drawingml/2006/main">
              <a:ext uri="{FF2B5EF4-FFF2-40B4-BE49-F238E27FC236}">
                <a16:creationId xmlns:a16="http://schemas.microsoft.com/office/drawing/2014/main" id="{75FA5D28-38B0-42C8-B579-4459BBBC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57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real Edge scenarios</a:t>
            </a:r>
          </a:p>
        </p:txBody>
      </p:sp>
      <p:sp>
        <p:nvSpPr>
          <p:cNvPr id="10" name="metric-value-tabs × viewports">
            <a:extLst xmlns:a="http://schemas.openxmlformats.org/drawingml/2006/main">
              <a:ext uri="{FF2B5EF4-FFF2-40B4-BE49-F238E27FC236}">
                <a16:creationId xmlns:a16="http://schemas.microsoft.com/office/drawing/2014/main" id="{E906D750-5351-44E0-9E48-F3009069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62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10 × 4</a:t>
            </a:r>
          </a:p>
        </p:txBody>
      </p:sp>
      <p:sp>
        <p:nvSpPr>
          <p:cNvPr id="11" name="metric-label-tabs × viewports">
            <a:extLst xmlns:a="http://schemas.openxmlformats.org/drawingml/2006/main">
              <a:ext uri="{FF2B5EF4-FFF2-40B4-BE49-F238E27FC236}">
                <a16:creationId xmlns:a16="http://schemas.microsoft.com/office/drawing/2014/main" id="{CC096A07-56AF-4697-8B24-ABCC1BE6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tabs × viewports</a:t>
            </a:r>
          </a:p>
        </p:txBody>
      </p:sp>
      <p:sp>
        <p:nvSpPr>
          <p:cNvPr id="12" name="metric-value-horizontal overflow">
            <a:extLst xmlns:a="http://schemas.openxmlformats.org/drawingml/2006/main">
              <a:ext uri="{FF2B5EF4-FFF2-40B4-BE49-F238E27FC236}">
                <a16:creationId xmlns:a16="http://schemas.microsoft.com/office/drawing/2014/main" id="{718FA626-2D09-41E4-A642-81D15535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62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2D3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2D39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metric-label-horizontal overflow">
            <a:extLst xmlns:a="http://schemas.openxmlformats.org/drawingml/2006/main">
              <a:ext uri="{FF2B5EF4-FFF2-40B4-BE49-F238E27FC236}">
                <a16:creationId xmlns:a16="http://schemas.microsoft.com/office/drawing/2014/main" id="{D258ADBC-7BA6-4457-9786-6390A442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horizontal overflow</a:t>
            </a:r>
          </a:p>
        </p:txBody>
      </p:sp>
      <p:sp>
        <p:nvSpPr>
          <p:cNvPr id="14" name="card-Coverage verified">
            <a:extLst xmlns:a="http://schemas.openxmlformats.org/drawingml/2006/main">
              <a:ext uri="{FF2B5EF4-FFF2-40B4-BE49-F238E27FC236}">
                <a16:creationId xmlns:a16="http://schemas.microsoft.com/office/drawing/2014/main" id="{B7DCB555-72E9-4711-8EC0-5506509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1054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5" name="card-title-Coverage verified">
            <a:extLst xmlns:a="http://schemas.openxmlformats.org/drawingml/2006/main">
              <a:ext uri="{FF2B5EF4-FFF2-40B4-BE49-F238E27FC236}">
                <a16:creationId xmlns:a16="http://schemas.microsoft.com/office/drawing/2014/main" id="{4F5C1496-ACEA-4945-A25F-DCAB728E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Coverage verified</a:t>
            </a:r>
          </a:p>
        </p:txBody>
      </p:sp>
      <p:sp>
        <p:nvSpPr>
          <p:cNvPr id="16" name="card-Coverage verified-line-0">
            <a:extLst xmlns:a="http://schemas.openxmlformats.org/drawingml/2006/main">
              <a:ext uri="{FF2B5EF4-FFF2-40B4-BE49-F238E27FC236}">
                <a16:creationId xmlns:a16="http://schemas.microsoft.com/office/drawing/2014/main" id="{7E206FAA-96C5-40E1-8D54-364C30B9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Library → Exam → Result → Analytics</a:t>
            </a:r>
          </a:p>
        </p:txBody>
      </p:sp>
      <p:sp>
        <p:nvSpPr>
          <p:cNvPr id="17" name="card-Coverage verified-line-1">
            <a:extLst xmlns:a="http://schemas.openxmlformats.org/drawingml/2006/main">
              <a:ext uri="{FF2B5EF4-FFF2-40B4-BE49-F238E27FC236}">
                <a16:creationId xmlns:a16="http://schemas.microsoft.com/office/drawing/2014/main" id="{4CC8D6FF-A327-412F-8B3D-21F6A5BA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Auth, assignment and answer-key privacy</a:t>
            </a:r>
          </a:p>
        </p:txBody>
      </p:sp>
      <p:sp>
        <p:nvSpPr>
          <p:cNvPr id="18" name="card-Coverage verified-line-2">
            <a:extLst xmlns:a="http://schemas.openxmlformats.org/drawingml/2006/main">
              <a:ext uri="{FF2B5EF4-FFF2-40B4-BE49-F238E27FC236}">
                <a16:creationId xmlns:a16="http://schemas.microsoft.com/office/drawing/2014/main" id="{F8607AC8-E9D7-4E94-88C5-699EB5D3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Practice/bookmarks/revision + Phase 4 flows</a:t>
            </a:r>
          </a:p>
        </p:txBody>
      </p:sp>
      <p:sp>
        <p:nvSpPr>
          <p:cNvPr id="19" name="card-Coverage verified-line-3">
            <a:extLst xmlns:a="http://schemas.openxmlformats.org/drawingml/2006/main">
              <a:ext uri="{FF2B5EF4-FFF2-40B4-BE49-F238E27FC236}">
                <a16:creationId xmlns:a16="http://schemas.microsoft.com/office/drawing/2014/main" id="{11E55FAF-859C-4D8A-91AD-9FACDEA4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Isolated load simulation; no hosted target</a:t>
            </a:r>
          </a:p>
        </p:txBody>
      </p:sp>
      <p:sp>
        <p:nvSpPr>
          <p:cNvPr id="20" name="card-Start testing now">
            <a:extLst xmlns:a="http://schemas.openxmlformats.org/drawingml/2006/main">
              <a:ext uri="{FF2B5EF4-FFF2-40B4-BE49-F238E27FC236}">
                <a16:creationId xmlns:a16="http://schemas.microsoft.com/office/drawing/2014/main" id="{473F9EF1-6BB5-47A8-9F8A-D9DC34AA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0350"/>
            <a:ext cx="51054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21" name="card-title-Start testing now">
            <a:extLst xmlns:a="http://schemas.openxmlformats.org/drawingml/2006/main">
              <a:ext uri="{FF2B5EF4-FFF2-40B4-BE49-F238E27FC236}">
                <a16:creationId xmlns:a16="http://schemas.microsoft.com/office/drawing/2014/main" id="{0B9007C6-7B98-45FD-83EA-1E669ED9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Start testing now</a:t>
            </a:r>
          </a:p>
        </p:txBody>
      </p:sp>
      <p:sp>
        <p:nvSpPr>
          <p:cNvPr id="22" name="card-Start testing now-line-0">
            <a:extLst xmlns:a="http://schemas.openxmlformats.org/drawingml/2006/main">
              <a:ext uri="{FF2B5EF4-FFF2-40B4-BE49-F238E27FC236}">
                <a16:creationId xmlns:a16="http://schemas.microsoft.com/office/drawing/2014/main" id="{E5E92601-05DC-4F20-8218-0F353E49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Begin structured local QA immediately</a:t>
            </a:r>
          </a:p>
        </p:txBody>
      </p:sp>
      <p:sp>
        <p:nvSpPr>
          <p:cNvPr id="23" name="card-Start testing now-line-1">
            <a:extLst xmlns:a="http://schemas.openxmlformats.org/drawingml/2006/main">
              <a:ext uri="{FF2B5EF4-FFF2-40B4-BE49-F238E27FC236}">
                <a16:creationId xmlns:a16="http://schemas.microsoft.com/office/drawing/2014/main" id="{667D427B-84B9-4467-903C-58AEE601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Track defects by route, severity and evidence</a:t>
            </a:r>
          </a:p>
        </p:txBody>
      </p:sp>
      <p:sp>
        <p:nvSpPr>
          <p:cNvPr id="24" name="card-Start testing now-line-2">
            <a:extLst xmlns:a="http://schemas.openxmlformats.org/drawingml/2006/main">
              <a:ext uri="{FF2B5EF4-FFF2-40B4-BE49-F238E27FC236}">
                <a16:creationId xmlns:a16="http://schemas.microsoft.com/office/drawing/2014/main" id="{715F4093-1353-411C-BCFC-1285F733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243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Keep local code pass separate from launch sign-off</a:t>
            </a:r>
          </a:p>
        </p:txBody>
      </p:sp>
      <p:sp>
        <p:nvSpPr>
          <p:cNvPr id="25" name="card-Start testing now-line-3">
            <a:extLst xmlns:a="http://schemas.openxmlformats.org/drawingml/2006/main">
              <a:ext uri="{FF2B5EF4-FFF2-40B4-BE49-F238E27FC236}">
                <a16:creationId xmlns:a16="http://schemas.microsoft.com/office/drawing/2014/main" id="{0B30B468-7399-4FB8-8E3F-E37C17BA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291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Browser pass ≠ real-user or production acceptance</a:t>
            </a:r>
          </a:p>
        </p:txBody>
      </p:sp>
      <p:sp>
        <p:nvSpPr>
          <p:cNvPr id="26" name="evidence-paths">
            <a:extLst xmlns:a="http://schemas.openxmlformats.org/drawingml/2006/main">
              <a:ext uri="{FF2B5EF4-FFF2-40B4-BE49-F238E27FC236}">
                <a16:creationId xmlns:a16="http://schemas.microsoft.com/office/drawing/2014/main" id="{70742CF1-8F5E-4F5B-9396-5F909618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Evidence: npm test 87/87 • scratch/verify-chrome-browser.js 41/41 • reports/phase5-browser-evidence.json</a:t>
            </a:r>
          </a:p>
        </p:txBody>
      </p:sp>
    </p:spTree>
    <p:extLst>
      <p:ext uri="{BB962C8B-B14F-4D97-AF65-F5344CB8AC3E}">
        <p14:creationId xmlns:p14="http://schemas.microsoft.com/office/powerpoint/2010/main" val="871567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">
            <a:extLst xmlns:a="http://schemas.openxmlformats.org/drawingml/2006/main">
              <a:ext uri="{FF2B5EF4-FFF2-40B4-BE49-F238E27FC236}">
                <a16:creationId xmlns:a16="http://schemas.microsoft.com/office/drawing/2014/main" id="{D9C69434-67F5-4CDB-88A1-AEE07768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FC41F53-242E-47B8-AEF8-153EA8C7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5A7C81-A8C7-4D26-981E-1D857972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Production is not yet a verified release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E31CB1F-6E5D-4B71-A3A8-1D8D5CA0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8282F86-5C32-4CE1-9041-21794279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status-pill">
            <a:extLst xmlns:a="http://schemas.openxmlformats.org/drawingml/2006/main">
              <a:ext uri="{FF2B5EF4-FFF2-40B4-BE49-F238E27FC236}">
                <a16:creationId xmlns:a16="http://schemas.microsoft.com/office/drawing/2014/main" id="{8AE00435-945F-4F2E-BAB8-6685CC93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742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CODE: LOCALLY TESTABLE     HOSTED ACCEPTANCE: OPEN</a:t>
            </a:r>
          </a:p>
        </p:txBody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1106C5DB-00B5-4B10-8AC5-37F4AFE9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2838A921-BD5F-4865-B56D-7AC29B86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1009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No production URL / deployed target was available for a current health, TLS, cookie, CSP or database check.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D0F21311-B114-4993-B65E-D5B0C6C1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DE2BE27-9889-413F-8366-11A3CE55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1009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Actual provider credentials, OTP delivery and hosted integration are deferred by project instruction to Phase 8.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9A7BB088-8B9A-4449-9240-F36425F8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E4D48AC-180B-4CEC-9704-2019D24F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1009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Before launch: verify backup + restore, migrations, monitoring/alerts, rate limits, secrets rotation, privacy/delete flow and rollback.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A4134592-950E-46BE-BD00-3793F78D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9A4DAE8-860F-4CFE-A415-CF60A211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1009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Run concurrency/load tests against the production database tier and documented target traffic; current checks are isolated simulations.</a:t>
            </a:r>
          </a:p>
        </p:txBody>
      </p:sp>
      <p:sp>
        <p:nvSpPr>
          <p:cNvPr id="15" name="honesty-note">
            <a:extLst xmlns:a="http://schemas.openxmlformats.org/drawingml/2006/main">
              <a:ext uri="{FF2B5EF4-FFF2-40B4-BE49-F238E27FC236}">
                <a16:creationId xmlns:a16="http://schemas.microsoft.com/office/drawing/2014/main" id="{6F6A5443-F6F0-4315-8348-455D2DB2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Decision: start QA now; do not label production launch complete until hosted checks pass.</a:t>
            </a:r>
          </a:p>
        </p:txBody>
      </p:sp>
    </p:spTree>
    <p:extLst>
      <p:ext uri="{BB962C8B-B14F-4D97-AF65-F5344CB8AC3E}">
        <p14:creationId xmlns:p14="http://schemas.microsoft.com/office/powerpoint/2010/main" val="376879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cent">
            <a:extLst xmlns:a="http://schemas.openxmlformats.org/drawingml/2006/main">
              <a:ext uri="{FF2B5EF4-FFF2-40B4-BE49-F238E27FC236}">
                <a16:creationId xmlns:a16="http://schemas.microsoft.com/office/drawing/2014/main" id="{C50DACA7-4D8E-4775-AD37-AF20BF30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9BCB468-0D42-4E82-BEAC-90F67891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44786E-BE10-4D1B-A1B8-5073476B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Supplied PDFs: inventory complete, import is partial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3B4A82E-1B2B-448C-8E14-91478574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B5B8012-BBC7-40BB-8D68-7F1BCA8E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metric-value-PDF files">
            <a:extLst xmlns:a="http://schemas.openxmlformats.org/drawingml/2006/main">
              <a:ext uri="{FF2B5EF4-FFF2-40B4-BE49-F238E27FC236}">
                <a16:creationId xmlns:a16="http://schemas.microsoft.com/office/drawing/2014/main" id="{C33D8335-4DBB-4FEF-BE56-F2B2BD7E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7" name="metric-label-PDF files">
            <a:extLst xmlns:a="http://schemas.openxmlformats.org/drawingml/2006/main">
              <a:ext uri="{FF2B5EF4-FFF2-40B4-BE49-F238E27FC236}">
                <a16:creationId xmlns:a16="http://schemas.microsoft.com/office/drawing/2014/main" id="{514A2241-97AA-4829-912C-BDAEA98B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PDF files</a:t>
            </a:r>
          </a:p>
        </p:txBody>
      </p:sp>
      <p:sp>
        <p:nvSpPr>
          <p:cNvPr id="8" name="metric-value-UCEED files">
            <a:extLst xmlns:a="http://schemas.openxmlformats.org/drawingml/2006/main">
              <a:ext uri="{FF2B5EF4-FFF2-40B4-BE49-F238E27FC236}">
                <a16:creationId xmlns:a16="http://schemas.microsoft.com/office/drawing/2014/main" id="{DCC79F44-7ED6-489D-9274-5B7024F0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049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9" name="metric-label-UCEED files">
            <a:extLst xmlns:a="http://schemas.openxmlformats.org/drawingml/2006/main">
              <a:ext uri="{FF2B5EF4-FFF2-40B4-BE49-F238E27FC236}">
                <a16:creationId xmlns:a16="http://schemas.microsoft.com/office/drawing/2014/main" id="{9E89F5CE-F215-4BD3-8925-B69DCF0A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UCEED files</a:t>
            </a:r>
          </a:p>
        </p:txBody>
      </p:sp>
      <p:sp>
        <p:nvSpPr>
          <p:cNvPr id="10" name="metric-value-CEED files">
            <a:extLst xmlns:a="http://schemas.openxmlformats.org/drawingml/2006/main">
              <a:ext uri="{FF2B5EF4-FFF2-40B4-BE49-F238E27FC236}">
                <a16:creationId xmlns:a16="http://schemas.microsoft.com/office/drawing/2014/main" id="{32524624-5460-41F9-94E6-A139909B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049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1" name="metric-label-CEED files">
            <a:extLst xmlns:a="http://schemas.openxmlformats.org/drawingml/2006/main">
              <a:ext uri="{FF2B5EF4-FFF2-40B4-BE49-F238E27FC236}">
                <a16:creationId xmlns:a16="http://schemas.microsoft.com/office/drawing/2014/main" id="{D9322688-3487-48E8-9EB7-BB215A39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00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CEED files</a:t>
            </a:r>
          </a:p>
        </p:txBody>
      </p:sp>
      <p:sp>
        <p:nvSpPr>
          <p:cNvPr id="12" name="metric-value-NIFT CAT/GAT">
            <a:extLst xmlns:a="http://schemas.openxmlformats.org/drawingml/2006/main">
              <a:ext uri="{FF2B5EF4-FFF2-40B4-BE49-F238E27FC236}">
                <a16:creationId xmlns:a16="http://schemas.microsoft.com/office/drawing/2014/main" id="{7B956FAC-EEF9-4F83-B98B-CAFF2ADA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049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" name="metric-label-NIFT CAT/GAT">
            <a:extLst xmlns:a="http://schemas.openxmlformats.org/drawingml/2006/main">
              <a:ext uri="{FF2B5EF4-FFF2-40B4-BE49-F238E27FC236}">
                <a16:creationId xmlns:a16="http://schemas.microsoft.com/office/drawing/2014/main" id="{A2128F92-68A4-4480-AED8-F6C958A8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NIFT CAT/GAT</a:t>
            </a:r>
          </a:p>
        </p:txBody>
      </p:sp>
      <p:sp>
        <p:nvSpPr>
          <p:cNvPr id="14" name="metric-value-unclassified PDF">
            <a:extLst xmlns:a="http://schemas.openxmlformats.org/drawingml/2006/main">
              <a:ext uri="{FF2B5EF4-FFF2-40B4-BE49-F238E27FC236}">
                <a16:creationId xmlns:a16="http://schemas.microsoft.com/office/drawing/2014/main" id="{E054973C-1C28-4EA4-A351-46AEEBA9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049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metric-label-unclassified PDF">
            <a:extLst xmlns:a="http://schemas.openxmlformats.org/drawingml/2006/main">
              <a:ext uri="{FF2B5EF4-FFF2-40B4-BE49-F238E27FC236}">
                <a16:creationId xmlns:a16="http://schemas.microsoft.com/office/drawing/2014/main" id="{F5AFA4D4-BBA5-4290-BE8B-FF732ECA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unclassified PDF</a:t>
            </a:r>
          </a:p>
        </p:txBody>
      </p:sp>
      <p:sp>
        <p:nvSpPr>
          <p:cNvPr id="16" name="card-Imported locally">
            <a:extLst xmlns:a="http://schemas.openxmlformats.org/drawingml/2006/main">
              <a:ext uri="{FF2B5EF4-FFF2-40B4-BE49-F238E27FC236}">
                <a16:creationId xmlns:a16="http://schemas.microsoft.com/office/drawing/2014/main" id="{A6D82F47-CC00-434E-A120-8BA84146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5105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7" name="card-title-Imported locally">
            <a:extLst xmlns:a="http://schemas.openxmlformats.org/drawingml/2006/main">
              <a:ext uri="{FF2B5EF4-FFF2-40B4-BE49-F238E27FC236}">
                <a16:creationId xmlns:a16="http://schemas.microsoft.com/office/drawing/2014/main" id="{F6622E73-9B35-41A2-B9B5-319165F5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2D3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2D39A"/>
                </a:solidFill>
                <a:latin typeface="Arial"/>
                <a:ea typeface="Arial"/>
                <a:cs typeface="Arial"/>
              </a:rPr>
              <a:t>Imported locally</a:t>
            </a:r>
          </a:p>
        </p:txBody>
      </p:sp>
      <p:sp>
        <p:nvSpPr>
          <p:cNvPr id="18" name="card-Imported locally-line-0">
            <a:extLst xmlns:a="http://schemas.openxmlformats.org/drawingml/2006/main">
              <a:ext uri="{FF2B5EF4-FFF2-40B4-BE49-F238E27FC236}">
                <a16:creationId xmlns:a16="http://schemas.microsoft.com/office/drawing/2014/main" id="{92F4FB78-1778-4FDF-B898-7275BBC5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16 seeded exams / practice sets</a:t>
            </a:r>
          </a:p>
        </p:txBody>
      </p:sp>
      <p:sp>
        <p:nvSpPr>
          <p:cNvPr id="19" name="card-Imported locally-line-1">
            <a:extLst xmlns:a="http://schemas.openxmlformats.org/drawingml/2006/main">
              <a:ext uri="{FF2B5EF4-FFF2-40B4-BE49-F238E27FC236}">
                <a16:creationId xmlns:a16="http://schemas.microsoft.com/office/drawing/2014/main" id="{6E2E9E7F-CB35-40BF-A9F3-4AF5846E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915 total questions in isolated seed audit</a:t>
            </a:r>
          </a:p>
        </p:txBody>
      </p:sp>
      <p:sp>
        <p:nvSpPr>
          <p:cNvPr id="20" name="card-Imported locally-line-2">
            <a:extLst xmlns:a="http://schemas.openxmlformats.org/drawingml/2006/main">
              <a:ext uri="{FF2B5EF4-FFF2-40B4-BE49-F238E27FC236}">
                <a16:creationId xmlns:a16="http://schemas.microsoft.com/office/drawing/2014/main" id="{597DB9FE-BA76-4444-800E-41C2CB20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Official UCEED 2017–26 = 698 questions</a:t>
            </a:r>
          </a:p>
        </p:txBody>
      </p:sp>
      <p:sp>
        <p:nvSpPr>
          <p:cNvPr id="21" name="card-Imported locally-line-3">
            <a:extLst xmlns:a="http://schemas.openxmlformats.org/drawingml/2006/main">
              <a:ext uri="{FF2B5EF4-FFF2-40B4-BE49-F238E27FC236}">
                <a16:creationId xmlns:a16="http://schemas.microsoft.com/office/drawing/2014/main" id="{1B9713BE-0A1E-4877-BFE8-1A648D38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No duplicate PDF SHA-256 in the 56 files</a:t>
            </a:r>
          </a:p>
        </p:txBody>
      </p:sp>
      <p:sp>
        <p:nvSpPr>
          <p:cNvPr id="22" name="card-Still to process">
            <a:extLst xmlns:a="http://schemas.openxmlformats.org/drawingml/2006/main">
              <a:ext uri="{FF2B5EF4-FFF2-40B4-BE49-F238E27FC236}">
                <a16:creationId xmlns:a16="http://schemas.microsoft.com/office/drawing/2014/main" id="{63028022-FE56-4E03-B130-ACCE797F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5105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23" name="card-title-Still to process">
            <a:extLst xmlns:a="http://schemas.openxmlformats.org/drawingml/2006/main">
              <a:ext uri="{FF2B5EF4-FFF2-40B4-BE49-F238E27FC236}">
                <a16:creationId xmlns:a16="http://schemas.microsoft.com/office/drawing/2014/main" id="{A2435071-9E51-472C-866A-9F2EC151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Still to process</a:t>
            </a:r>
          </a:p>
        </p:txBody>
      </p:sp>
      <p:sp>
        <p:nvSpPr>
          <p:cNvPr id="24" name="card-Still to process-line-0">
            <a:extLst xmlns:a="http://schemas.openxmlformats.org/drawingml/2006/main">
              <a:ext uri="{FF2B5EF4-FFF2-40B4-BE49-F238E27FC236}">
                <a16:creationId xmlns:a16="http://schemas.microsoft.com/office/drawing/2014/main" id="{1FE06B57-D3C3-4E4B-A0DA-4891B3FB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04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UCEED 2015–16: 180 questions; PDFs + keys exist</a:t>
            </a:r>
          </a:p>
        </p:txBody>
      </p:sp>
      <p:sp>
        <p:nvSpPr>
          <p:cNvPr id="25" name="card-Still to process-line-1">
            <a:extLst xmlns:a="http://schemas.openxmlformats.org/drawingml/2006/main">
              <a:ext uri="{FF2B5EF4-FFF2-40B4-BE49-F238E27FC236}">
                <a16:creationId xmlns:a16="http://schemas.microsoft.com/office/drawing/2014/main" id="{FD5D93FF-43F1-4117-96AA-BBD66BE9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052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CEED: source papers; keys only 2020–25 present</a:t>
            </a:r>
          </a:p>
        </p:txBody>
      </p:sp>
      <p:sp>
        <p:nvSpPr>
          <p:cNvPr id="26" name="card-Still to process-line-2">
            <a:extLst xmlns:a="http://schemas.openxmlformats.org/drawingml/2006/main">
              <a:ext uri="{FF2B5EF4-FFF2-40B4-BE49-F238E27FC236}">
                <a16:creationId xmlns:a16="http://schemas.microsoft.com/office/drawing/2014/main" id="{2385A4B0-4D7B-4294-B838-6EBE4947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NIFT CAT/GAT 2016–18: 6 papers; no keys found</a:t>
            </a:r>
          </a:p>
        </p:txBody>
      </p:sp>
      <p:sp>
        <p:nvSpPr>
          <p:cNvPr id="27" name="card-Still to process-line-3">
            <a:extLst xmlns:a="http://schemas.openxmlformats.org/drawingml/2006/main">
              <a:ext uri="{FF2B5EF4-FFF2-40B4-BE49-F238E27FC236}">
                <a16:creationId xmlns:a16="http://schemas.microsoft.com/office/drawing/2014/main" id="{98DF9286-B4B9-401E-90BD-AF39BB0D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148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Identify 7-page media_1790718535711.pdf</a:t>
            </a:r>
          </a:p>
        </p:txBody>
      </p:sp>
      <p:sp>
        <p:nvSpPr>
          <p:cNvPr id="28" name="pdf-caveat">
            <a:extLst xmlns:a="http://schemas.openxmlformats.org/drawingml/2006/main">
              <a:ext uri="{FF2B5EF4-FFF2-40B4-BE49-F238E27FC236}">
                <a16:creationId xmlns:a16="http://schemas.microsoft.com/office/drawing/2014/main" id="{89D52709-7404-4CAB-8D00-2C7F526D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PDFs inventoried (page counts recorded); not all have been converted to validated question fixtures.</a:t>
            </a:r>
          </a:p>
        </p:txBody>
      </p:sp>
    </p:spTree>
    <p:extLst>
      <p:ext uri="{BB962C8B-B14F-4D97-AF65-F5344CB8AC3E}">
        <p14:creationId xmlns:p14="http://schemas.microsoft.com/office/powerpoint/2010/main" val="222885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accent">
            <a:extLst xmlns:a="http://schemas.openxmlformats.org/drawingml/2006/main">
              <a:ext uri="{FF2B5EF4-FFF2-40B4-BE49-F238E27FC236}">
                <a16:creationId xmlns:a16="http://schemas.microsoft.com/office/drawing/2014/main" id="{008422A1-7695-4498-961A-C355FEA7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CCE27A3-186D-40C9-8253-580D33E9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23FB8A-B721-4924-9689-A7AB79EC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Paper coverage gap is the largest parity blocker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F4D76C2-62FB-453A-96CB-F17B103F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1769904-14BA-4848-B1E4-5B433153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table-header-1">
            <a:extLst xmlns:a="http://schemas.openxmlformats.org/drawingml/2006/main">
              <a:ext uri="{FF2B5EF4-FFF2-40B4-BE49-F238E27FC236}">
                <a16:creationId xmlns:a16="http://schemas.microsoft.com/office/drawing/2014/main" id="{F4D93849-E96D-4239-9776-4DC7F0D1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6C1D2"/>
                </a:solidFill>
                <a:latin typeface="Arial"/>
                <a:ea typeface="Arial"/>
                <a:cs typeface="Arial"/>
              </a:rPr>
              <a:t>EXAM</a:t>
            </a:r>
          </a:p>
        </p:txBody>
      </p:sp>
      <p:sp>
        <p:nvSpPr>
          <p:cNvPr id="7" name="table-header-2">
            <a:extLst xmlns:a="http://schemas.openxmlformats.org/drawingml/2006/main">
              <a:ext uri="{FF2B5EF4-FFF2-40B4-BE49-F238E27FC236}">
                <a16:creationId xmlns:a16="http://schemas.microsoft.com/office/drawing/2014/main" id="{C5B44D8E-C6EC-410B-A3ED-CDCDC67E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049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6C1D2"/>
                </a:solidFill>
                <a:latin typeface="Arial"/>
                <a:ea typeface="Arial"/>
                <a:cs typeface="Arial"/>
              </a:rPr>
              <a:t>PAPERS (LOCAL / RW)</a:t>
            </a:r>
          </a:p>
        </p:txBody>
      </p:sp>
      <p:sp>
        <p:nvSpPr>
          <p:cNvPr id="8" name="table-header-3">
            <a:extLst xmlns:a="http://schemas.openxmlformats.org/drawingml/2006/main">
              <a:ext uri="{FF2B5EF4-FFF2-40B4-BE49-F238E27FC236}">
                <a16:creationId xmlns:a16="http://schemas.microsoft.com/office/drawing/2014/main" id="{C460C367-D589-441D-BFD1-72678294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049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6C1D2"/>
                </a:solidFill>
                <a:latin typeface="Arial"/>
                <a:ea typeface="Arial"/>
                <a:cs typeface="Arial"/>
              </a:rPr>
              <a:t>QUESTIONS (LOCAL / RW)</a:t>
            </a:r>
          </a:p>
        </p:txBody>
      </p:sp>
      <p:sp>
        <p:nvSpPr>
          <p:cNvPr id="9" name="table-header-4">
            <a:extLst xmlns:a="http://schemas.openxmlformats.org/drawingml/2006/main">
              <a:ext uri="{FF2B5EF4-FFF2-40B4-BE49-F238E27FC236}">
                <a16:creationId xmlns:a16="http://schemas.microsoft.com/office/drawing/2014/main" id="{B961E452-85DD-41C9-AD92-46627178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04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6C1D2"/>
                </a:solidFill>
                <a:latin typeface="Arial"/>
                <a:ea typeface="Arial"/>
                <a:cs typeface="Arial"/>
              </a:rPr>
              <a:t>GAP TO BENCHMARK</a:t>
            </a:r>
          </a:p>
        </p:txBody>
      </p:sp>
      <p:sp>
        <p:nvSpPr>
          <p:cNvPr id="10" name="row-line-0">
            <a:extLst xmlns:a="http://schemas.openxmlformats.org/drawingml/2006/main">
              <a:ext uri="{FF2B5EF4-FFF2-40B4-BE49-F238E27FC236}">
                <a16:creationId xmlns:a16="http://schemas.microsoft.com/office/drawing/2014/main" id="{B418C47A-515C-4B78-B5B9-2BBBE5A3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w-0-col-0">
            <a:extLst xmlns:a="http://schemas.openxmlformats.org/drawingml/2006/main">
              <a:ext uri="{FF2B5EF4-FFF2-40B4-BE49-F238E27FC236}">
                <a16:creationId xmlns:a16="http://schemas.microsoft.com/office/drawing/2014/main" id="{66FEC3D9-8645-4AB5-B323-3057C4D2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UCEED</a:t>
            </a:r>
          </a:p>
        </p:txBody>
      </p:sp>
      <p:sp>
        <p:nvSpPr>
          <p:cNvPr id="12" name="row-0-col-1">
            <a:extLst xmlns:a="http://schemas.openxmlformats.org/drawingml/2006/main">
              <a:ext uri="{FF2B5EF4-FFF2-40B4-BE49-F238E27FC236}">
                <a16:creationId xmlns:a16="http://schemas.microsoft.com/office/drawing/2014/main" id="{C4A700F0-CD9D-4747-985B-F4DEE4FB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2405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13" name="row-0-col-2">
            <a:extLst xmlns:a="http://schemas.openxmlformats.org/drawingml/2006/main">
              <a:ext uri="{FF2B5EF4-FFF2-40B4-BE49-F238E27FC236}">
                <a16:creationId xmlns:a16="http://schemas.microsoft.com/office/drawing/2014/main" id="{3B9CBE76-56D7-47D4-B928-E9026CBF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698 / 878</a:t>
            </a:r>
          </a:p>
        </p:txBody>
      </p:sp>
      <p:sp>
        <p:nvSpPr>
          <p:cNvPr id="14" name="row-0-col-3">
            <a:extLst xmlns:a="http://schemas.openxmlformats.org/drawingml/2006/main">
              <a:ext uri="{FF2B5EF4-FFF2-40B4-BE49-F238E27FC236}">
                <a16:creationId xmlns:a16="http://schemas.microsoft.com/office/drawing/2014/main" id="{E7B7FD37-790C-4949-A848-AE348D38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24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+2 papers / 180 Q</a:t>
            </a:r>
          </a:p>
        </p:txBody>
      </p:sp>
      <p:sp>
        <p:nvSpPr>
          <p:cNvPr id="15" name="row-line-1">
            <a:extLst xmlns:a="http://schemas.openxmlformats.org/drawingml/2006/main">
              <a:ext uri="{FF2B5EF4-FFF2-40B4-BE49-F238E27FC236}">
                <a16:creationId xmlns:a16="http://schemas.microsoft.com/office/drawing/2014/main" id="{3F0D932F-52CB-4B3C-9A43-6CD6A4D2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-1-col-0">
            <a:extLst xmlns:a="http://schemas.openxmlformats.org/drawingml/2006/main">
              <a:ext uri="{FF2B5EF4-FFF2-40B4-BE49-F238E27FC236}">
                <a16:creationId xmlns:a16="http://schemas.microsoft.com/office/drawing/2014/main" id="{DE06DC45-1C94-4DB1-8203-426B71AB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CEED</a:t>
            </a:r>
          </a:p>
        </p:txBody>
      </p:sp>
      <p:sp>
        <p:nvSpPr>
          <p:cNvPr id="17" name="row-1-col-1">
            <a:extLst xmlns:a="http://schemas.openxmlformats.org/drawingml/2006/main">
              <a:ext uri="{FF2B5EF4-FFF2-40B4-BE49-F238E27FC236}">
                <a16:creationId xmlns:a16="http://schemas.microsoft.com/office/drawing/2014/main" id="{432DB6BB-8735-4B8F-8618-4A688F86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 / 9</a:t>
            </a:r>
          </a:p>
        </p:txBody>
      </p:sp>
      <p:sp>
        <p:nvSpPr>
          <p:cNvPr id="18" name="row-1-col-2">
            <a:extLst xmlns:a="http://schemas.openxmlformats.org/drawingml/2006/main">
              <a:ext uri="{FF2B5EF4-FFF2-40B4-BE49-F238E27FC236}">
                <a16:creationId xmlns:a16="http://schemas.microsoft.com/office/drawing/2014/main" id="{ABF7008A-8C83-4D24-826E-DCB563B3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479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 / 382</a:t>
            </a:r>
          </a:p>
        </p:txBody>
      </p:sp>
      <p:sp>
        <p:nvSpPr>
          <p:cNvPr id="19" name="row-1-col-3">
            <a:extLst xmlns:a="http://schemas.openxmlformats.org/drawingml/2006/main">
              <a:ext uri="{FF2B5EF4-FFF2-40B4-BE49-F238E27FC236}">
                <a16:creationId xmlns:a16="http://schemas.microsoft.com/office/drawing/2014/main" id="{E7A2378A-13FA-423C-ABCF-DCD396A8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+9 papers / 382 Q</a:t>
            </a:r>
          </a:p>
        </p:txBody>
      </p:sp>
      <p:sp>
        <p:nvSpPr>
          <p:cNvPr id="20" name="row-line-2">
            <a:extLst xmlns:a="http://schemas.openxmlformats.org/drawingml/2006/main">
              <a:ext uri="{FF2B5EF4-FFF2-40B4-BE49-F238E27FC236}">
                <a16:creationId xmlns:a16="http://schemas.microsoft.com/office/drawing/2014/main" id="{11033BD6-020F-4914-90D2-1F78C09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ow-2-col-0">
            <a:extLst xmlns:a="http://schemas.openxmlformats.org/drawingml/2006/main">
              <a:ext uri="{FF2B5EF4-FFF2-40B4-BE49-F238E27FC236}">
                <a16:creationId xmlns:a16="http://schemas.microsoft.com/office/drawing/2014/main" id="{98E54F12-F8FA-40CE-94CF-C26C58ED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NID UG</a:t>
            </a:r>
          </a:p>
        </p:txBody>
      </p:sp>
      <p:sp>
        <p:nvSpPr>
          <p:cNvPr id="22" name="row-2-col-1">
            <a:extLst xmlns:a="http://schemas.openxmlformats.org/drawingml/2006/main">
              <a:ext uri="{FF2B5EF4-FFF2-40B4-BE49-F238E27FC236}">
                <a16:creationId xmlns:a16="http://schemas.microsoft.com/office/drawing/2014/main" id="{9CCB4FB3-C784-4BDD-8119-6BEE29FD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7185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 / 2</a:t>
            </a:r>
          </a:p>
        </p:txBody>
      </p:sp>
      <p:sp>
        <p:nvSpPr>
          <p:cNvPr id="23" name="row-2-col-2">
            <a:extLst xmlns:a="http://schemas.openxmlformats.org/drawingml/2006/main">
              <a:ext uri="{FF2B5EF4-FFF2-40B4-BE49-F238E27FC236}">
                <a16:creationId xmlns:a16="http://schemas.microsoft.com/office/drawing/2014/main" id="{DC4FDD38-18BC-43BE-B488-7C864C15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18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 / 29</a:t>
            </a:r>
          </a:p>
        </p:txBody>
      </p:sp>
      <p:sp>
        <p:nvSpPr>
          <p:cNvPr id="24" name="row-2-col-3">
            <a:extLst xmlns:a="http://schemas.openxmlformats.org/drawingml/2006/main">
              <a:ext uri="{FF2B5EF4-FFF2-40B4-BE49-F238E27FC236}">
                <a16:creationId xmlns:a16="http://schemas.microsoft.com/office/drawing/2014/main" id="{E25F02F4-7218-46CA-B763-43A2A8D6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718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Acquire authorized sources</a:t>
            </a:r>
          </a:p>
        </p:txBody>
      </p:sp>
      <p:sp>
        <p:nvSpPr>
          <p:cNvPr id="25" name="row-line-3">
            <a:extLst xmlns:a="http://schemas.openxmlformats.org/drawingml/2006/main">
              <a:ext uri="{FF2B5EF4-FFF2-40B4-BE49-F238E27FC236}">
                <a16:creationId xmlns:a16="http://schemas.microsoft.com/office/drawing/2014/main" id="{4236128C-6AFA-42BB-AC1B-404B0A94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ow-3-col-0">
            <a:extLst xmlns:a="http://schemas.openxmlformats.org/drawingml/2006/main">
              <a:ext uri="{FF2B5EF4-FFF2-40B4-BE49-F238E27FC236}">
                <a16:creationId xmlns:a16="http://schemas.microsoft.com/office/drawing/2014/main" id="{1DC2267E-2965-45E3-8D3B-16F91615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NIFT</a:t>
            </a:r>
          </a:p>
        </p:txBody>
      </p:sp>
      <p:sp>
        <p:nvSpPr>
          <p:cNvPr id="27" name="row-3-col-1">
            <a:extLst xmlns:a="http://schemas.openxmlformats.org/drawingml/2006/main">
              <a:ext uri="{FF2B5EF4-FFF2-40B4-BE49-F238E27FC236}">
                <a16:creationId xmlns:a16="http://schemas.microsoft.com/office/drawing/2014/main" id="{2D3F4A05-1052-4707-947D-D5B93CA2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 / 3</a:t>
            </a:r>
          </a:p>
        </p:txBody>
      </p:sp>
      <p:sp>
        <p:nvSpPr>
          <p:cNvPr id="28" name="row-3-col-2">
            <a:extLst xmlns:a="http://schemas.openxmlformats.org/drawingml/2006/main">
              <a:ext uri="{FF2B5EF4-FFF2-40B4-BE49-F238E27FC236}">
                <a16:creationId xmlns:a16="http://schemas.microsoft.com/office/drawing/2014/main" id="{63E31CD1-FDD4-4851-A979-F16E660D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 / 300</a:t>
            </a:r>
          </a:p>
        </p:txBody>
      </p:sp>
      <p:sp>
        <p:nvSpPr>
          <p:cNvPr id="29" name="row-3-col-3">
            <a:extLst xmlns:a="http://schemas.openxmlformats.org/drawingml/2006/main">
              <a:ext uri="{FF2B5EF4-FFF2-40B4-BE49-F238E27FC236}">
                <a16:creationId xmlns:a16="http://schemas.microsoft.com/office/drawing/2014/main" id="{0D29A2B0-059B-4CEE-B0AC-ECA2171B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+3 papers / 300 Q</a:t>
            </a:r>
          </a:p>
        </p:txBody>
      </p:sp>
      <p:sp>
        <p:nvSpPr>
          <p:cNvPr id="30" name="benchmark-note">
            <a:extLst xmlns:a="http://schemas.openxmlformats.org/drawingml/2006/main">
              <a:ext uri="{FF2B5EF4-FFF2-40B4-BE49-F238E27FC236}">
                <a16:creationId xmlns:a16="http://schemas.microsoft.com/office/drawing/2014/main" id="{89BE6742-422D-4EE7-8A1A-B172DB7A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Roughworks public benchmark reviewed 05 Oct 2026; figures can change. CEED/NID/NIFT local count uses current configured seed list.</a:t>
            </a:r>
          </a:p>
        </p:txBody>
      </p:sp>
      <p:sp>
        <p:nvSpPr>
          <p:cNvPr id="31" name="benchmark-action">
            <a:extLst xmlns:a="http://schemas.openxmlformats.org/drawingml/2006/main">
              <a:ext uri="{FF2B5EF4-FFF2-40B4-BE49-F238E27FC236}">
                <a16:creationId xmlns:a16="http://schemas.microsoft.com/office/drawing/2014/main" id="{92C9B013-581C-4FE5-948D-593413D9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Priority: complete UCEED 2015–16, then add verified CEED/NID/NIFT banks.</a:t>
            </a:r>
          </a:p>
        </p:txBody>
      </p:sp>
    </p:spTree>
    <p:extLst>
      <p:ext uri="{BB962C8B-B14F-4D97-AF65-F5344CB8AC3E}">
        <p14:creationId xmlns:p14="http://schemas.microsoft.com/office/powerpoint/2010/main" val="1093059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accent">
            <a:extLst xmlns:a="http://schemas.openxmlformats.org/drawingml/2006/main">
              <a:ext uri="{FF2B5EF4-FFF2-40B4-BE49-F238E27FC236}">
                <a16:creationId xmlns:a16="http://schemas.microsoft.com/office/drawing/2014/main" id="{B6642835-15B5-49FB-9C9F-6305ED5C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44C43EB-BA1F-443E-A012-192863B2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7ED60F-5C63-48A9-B1E2-314B0A66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Make the question bank useful, not just large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B9A6596-0544-4385-A036-46733853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300739B-CC19-4CE0-81FE-7827BCBB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card-1  Import cleanly">
            <a:extLst xmlns:a="http://schemas.openxmlformats.org/drawingml/2006/main">
              <a:ext uri="{FF2B5EF4-FFF2-40B4-BE49-F238E27FC236}">
                <a16:creationId xmlns:a16="http://schemas.microsoft.com/office/drawing/2014/main" id="{6D25A3CF-80F0-43AC-8B64-E391A092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32956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7" name="card-title-1  Import cleanly">
            <a:extLst xmlns:a="http://schemas.openxmlformats.org/drawingml/2006/main">
              <a:ext uri="{FF2B5EF4-FFF2-40B4-BE49-F238E27FC236}">
                <a16:creationId xmlns:a16="http://schemas.microsoft.com/office/drawing/2014/main" id="{A667A1B0-36DC-4B0D-8D33-8DDF5C48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1  Import cleanly</a:t>
            </a:r>
          </a:p>
        </p:txBody>
      </p:sp>
      <p:sp>
        <p:nvSpPr>
          <p:cNvPr id="8" name="card-1  Import cleanly-line-0">
            <a:extLst xmlns:a="http://schemas.openxmlformats.org/drawingml/2006/main">
              <a:ext uri="{FF2B5EF4-FFF2-40B4-BE49-F238E27FC236}">
                <a16:creationId xmlns:a16="http://schemas.microsoft.com/office/drawing/2014/main" id="{719405CF-8EF3-42A3-ADFF-28D036AA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Build repeatable PDF → fixture workflow</a:t>
            </a:r>
          </a:p>
        </p:txBody>
      </p:sp>
      <p:sp>
        <p:nvSpPr>
          <p:cNvPr id="9" name="card-1  Import cleanly-line-1">
            <a:extLst xmlns:a="http://schemas.openxmlformats.org/drawingml/2006/main">
              <a:ext uri="{FF2B5EF4-FFF2-40B4-BE49-F238E27FC236}">
                <a16:creationId xmlns:a16="http://schemas.microsoft.com/office/drawing/2014/main" id="{1061A6F0-5DFF-4762-80F7-A3A6A6A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3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Preserve diagrams and page/question links</a:t>
            </a:r>
          </a:p>
        </p:txBody>
      </p:sp>
      <p:sp>
        <p:nvSpPr>
          <p:cNvPr id="10" name="card-1  Import cleanly-line-2">
            <a:extLst xmlns:a="http://schemas.openxmlformats.org/drawingml/2006/main">
              <a:ext uri="{FF2B5EF4-FFF2-40B4-BE49-F238E27FC236}">
                <a16:creationId xmlns:a16="http://schemas.microsoft.com/office/drawing/2014/main" id="{7872C06D-A721-445E-9BAE-AF491790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6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Verify answer + marks with a second reviewer</a:t>
            </a:r>
          </a:p>
        </p:txBody>
      </p:sp>
      <p:sp>
        <p:nvSpPr>
          <p:cNvPr id="11" name="card-1  Import cleanly-line-3">
            <a:extLst xmlns:a="http://schemas.openxmlformats.org/drawingml/2006/main">
              <a:ext uri="{FF2B5EF4-FFF2-40B4-BE49-F238E27FC236}">
                <a16:creationId xmlns:a16="http://schemas.microsoft.com/office/drawing/2014/main" id="{75ACFAD4-351D-4BC3-AC45-C0CC6115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Unkeyed material stays browse-only</a:t>
            </a:r>
          </a:p>
        </p:txBody>
      </p:sp>
      <p:sp>
        <p:nvSpPr>
          <p:cNvPr id="12" name="card-2  Practise precisely">
            <a:extLst xmlns:a="http://schemas.openxmlformats.org/drawingml/2006/main">
              <a:ext uri="{FF2B5EF4-FFF2-40B4-BE49-F238E27FC236}">
                <a16:creationId xmlns:a16="http://schemas.microsoft.com/office/drawing/2014/main" id="{5E3D356F-6704-4C30-AADE-B3D6E168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504950"/>
            <a:ext cx="32956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3" name="card-title-2  Practise precisely">
            <a:extLst xmlns:a="http://schemas.openxmlformats.org/drawingml/2006/main">
              <a:ext uri="{FF2B5EF4-FFF2-40B4-BE49-F238E27FC236}">
                <a16:creationId xmlns:a16="http://schemas.microsoft.com/office/drawing/2014/main" id="{A7AAB4FF-D320-4EAD-9560-DF2B766F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192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2  Practise precisely</a:t>
            </a:r>
          </a:p>
        </p:txBody>
      </p:sp>
      <p:sp>
        <p:nvSpPr>
          <p:cNvPr id="14" name="card-2  Practise precisely-line-0">
            <a:extLst xmlns:a="http://schemas.openxmlformats.org/drawingml/2006/main">
              <a:ext uri="{FF2B5EF4-FFF2-40B4-BE49-F238E27FC236}">
                <a16:creationId xmlns:a16="http://schemas.microsoft.com/office/drawing/2014/main" id="{EC59BB44-CF30-460D-907B-052E4000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19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Four exam hubs + year/topic map</a:t>
            </a:r>
          </a:p>
        </p:txBody>
      </p:sp>
      <p:sp>
        <p:nvSpPr>
          <p:cNvPr id="15" name="card-2  Practise precisely-line-1">
            <a:extLst xmlns:a="http://schemas.openxmlformats.org/drawingml/2006/main">
              <a:ext uri="{FF2B5EF4-FFF2-40B4-BE49-F238E27FC236}">
                <a16:creationId xmlns:a16="http://schemas.microsoft.com/office/drawing/2014/main" id="{246DDB57-C2CD-4840-A900-B9DB32BB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241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Question type, difficulty and source filters</a:t>
            </a:r>
          </a:p>
        </p:txBody>
      </p:sp>
      <p:sp>
        <p:nvSpPr>
          <p:cNvPr id="16" name="card-2  Practise precisely-line-2">
            <a:extLst xmlns:a="http://schemas.openxmlformats.org/drawingml/2006/main">
              <a:ext uri="{FF2B5EF4-FFF2-40B4-BE49-F238E27FC236}">
                <a16:creationId xmlns:a16="http://schemas.microsoft.com/office/drawing/2014/main" id="{7FB1B22D-8C83-40CC-A230-F916934C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Free guest paper mode + progress resume</a:t>
            </a:r>
          </a:p>
        </p:txBody>
      </p:sp>
      <p:sp>
        <p:nvSpPr>
          <p:cNvPr id="17" name="card-2  Practise precisely-line-3">
            <a:extLst xmlns:a="http://schemas.openxmlformats.org/drawingml/2006/main">
              <a:ext uri="{FF2B5EF4-FFF2-40B4-BE49-F238E27FC236}">
                <a16:creationId xmlns:a16="http://schemas.microsoft.com/office/drawing/2014/main" id="{1539FF26-C43E-4CD3-BB53-93158D42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337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Report a bad question / missing image</a:t>
            </a:r>
          </a:p>
        </p:txBody>
      </p:sp>
      <p:sp>
        <p:nvSpPr>
          <p:cNvPr id="18" name="card-3  Learn from mistakes">
            <a:extLst xmlns:a="http://schemas.openxmlformats.org/drawingml/2006/main">
              <a:ext uri="{FF2B5EF4-FFF2-40B4-BE49-F238E27FC236}">
                <a16:creationId xmlns:a16="http://schemas.microsoft.com/office/drawing/2014/main" id="{A51E7C09-C806-4E05-9694-DC34489F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32956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9" name="card-title-3  Learn from mistakes">
            <a:extLst xmlns:a="http://schemas.openxmlformats.org/drawingml/2006/main">
              <a:ext uri="{FF2B5EF4-FFF2-40B4-BE49-F238E27FC236}">
                <a16:creationId xmlns:a16="http://schemas.microsoft.com/office/drawing/2014/main" id="{3508F637-8709-4B39-8238-B75BB66A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2D3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2D39A"/>
                </a:solidFill>
                <a:latin typeface="Arial"/>
                <a:ea typeface="Arial"/>
                <a:cs typeface="Arial"/>
              </a:rPr>
              <a:t>3  Learn from mistakes</a:t>
            </a:r>
          </a:p>
        </p:txBody>
      </p:sp>
      <p:sp>
        <p:nvSpPr>
          <p:cNvPr id="20" name="card-3  Learn from mistakes-line-0">
            <a:extLst xmlns:a="http://schemas.openxmlformats.org/drawingml/2006/main">
              <a:ext uri="{FF2B5EF4-FFF2-40B4-BE49-F238E27FC236}">
                <a16:creationId xmlns:a16="http://schemas.microsoft.com/office/drawing/2014/main" id="{588B07C2-DC82-4DB8-81D4-EFAEC1B2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Stable dedupe across copied editions</a:t>
            </a:r>
          </a:p>
        </p:txBody>
      </p:sp>
      <p:sp>
        <p:nvSpPr>
          <p:cNvPr id="21" name="card-3  Learn from mistakes-line-1">
            <a:extLst xmlns:a="http://schemas.openxmlformats.org/drawingml/2006/main">
              <a:ext uri="{FF2B5EF4-FFF2-40B4-BE49-F238E27FC236}">
                <a16:creationId xmlns:a16="http://schemas.microsoft.com/office/drawing/2014/main" id="{00DA5D91-FE66-450B-8AF6-A1B84862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Rationales and cited solutions</a:t>
            </a:r>
          </a:p>
        </p:txBody>
      </p:sp>
      <p:sp>
        <p:nvSpPr>
          <p:cNvPr id="22" name="card-3  Learn from mistakes-line-2">
            <a:extLst xmlns:a="http://schemas.openxmlformats.org/drawingml/2006/main">
              <a:ext uri="{FF2B5EF4-FFF2-40B4-BE49-F238E27FC236}">
                <a16:creationId xmlns:a16="http://schemas.microsoft.com/office/drawing/2014/main" id="{D52523E4-51DC-41DC-968B-05403AF3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3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Bookmarks, wrong-box and revision queue</a:t>
            </a:r>
          </a:p>
        </p:txBody>
      </p:sp>
      <p:sp>
        <p:nvSpPr>
          <p:cNvPr id="23" name="card-3  Learn from mistakes-line-3">
            <a:extLst xmlns:a="http://schemas.openxmlformats.org/drawingml/2006/main">
              <a:ext uri="{FF2B5EF4-FFF2-40B4-BE49-F238E27FC236}">
                <a16:creationId xmlns:a16="http://schemas.microsoft.com/office/drawing/2014/main" id="{005B4344-3E4D-4DD9-A197-C57482FB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Track attempt count and mastery honestly</a:t>
            </a:r>
          </a:p>
        </p:txBody>
      </p:sp>
      <p:sp>
        <p:nvSpPr>
          <p:cNvPr id="24" name="practice-now">
            <a:extLst xmlns:a="http://schemas.openxmlformats.org/drawingml/2006/main">
              <a:ext uri="{FF2B5EF4-FFF2-40B4-BE49-F238E27FC236}">
                <a16:creationId xmlns:a16="http://schemas.microsoft.com/office/drawing/2014/main" id="{A3CAD023-3255-4E2B-A4D7-28A99151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Existing base: MCQ / MSQ / NAT scoring, saved practice, bookmarks, topic filters and resumable attempts are covered by current tests.</a:t>
            </a:r>
          </a:p>
        </p:txBody>
      </p:sp>
    </p:spTree>
    <p:extLst>
      <p:ext uri="{BB962C8B-B14F-4D97-AF65-F5344CB8AC3E}">
        <p14:creationId xmlns:p14="http://schemas.microsoft.com/office/powerpoint/2010/main" val="14835929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9554ABF5-2083-412B-A368-CB143A4E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C747142-46B8-4D98-9C4D-71B6604C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D97A62-FD0D-4624-9D1F-9997D62F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Close the daily habit + Part B community gap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549A6C1-809B-405F-A5FE-3FC7F212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F933FAF-D846-4C90-AF6A-4E9EE462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card-GK Sprint">
            <a:extLst xmlns:a="http://schemas.openxmlformats.org/drawingml/2006/main">
              <a:ext uri="{FF2B5EF4-FFF2-40B4-BE49-F238E27FC236}">
                <a16:creationId xmlns:a16="http://schemas.microsoft.com/office/drawing/2014/main" id="{D5A43C57-7093-4BED-9C67-21FB00D2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5105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7" name="card-title-GK Sprint">
            <a:extLst xmlns:a="http://schemas.openxmlformats.org/drawingml/2006/main">
              <a:ext uri="{FF2B5EF4-FFF2-40B4-BE49-F238E27FC236}">
                <a16:creationId xmlns:a16="http://schemas.microsoft.com/office/drawing/2014/main" id="{4814492B-62D5-4F97-8893-D2220711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GK Sprint</a:t>
            </a:r>
          </a:p>
        </p:txBody>
      </p:sp>
      <p:sp>
        <p:nvSpPr>
          <p:cNvPr id="8" name="card-GK Sprint-line-0">
            <a:extLst xmlns:a="http://schemas.openxmlformats.org/drawingml/2006/main">
              <a:ext uri="{FF2B5EF4-FFF2-40B4-BE49-F238E27FC236}">
                <a16:creationId xmlns:a16="http://schemas.microsoft.com/office/drawing/2014/main" id="{F5752649-378F-4011-B7D7-A85476E5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Public daily 5-question rotation</a:t>
            </a:r>
          </a:p>
        </p:txBody>
      </p:sp>
      <p:sp>
        <p:nvSpPr>
          <p:cNvPr id="9" name="card-GK Sprint-line-1">
            <a:extLst xmlns:a="http://schemas.openxmlformats.org/drawingml/2006/main">
              <a:ext uri="{FF2B5EF4-FFF2-40B4-BE49-F238E27FC236}">
                <a16:creationId xmlns:a16="http://schemas.microsoft.com/office/drawing/2014/main" id="{E8623030-FAB4-41B0-A110-FF3CF87C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After-quiz flashcard recall</a:t>
            </a:r>
          </a:p>
        </p:txBody>
      </p:sp>
      <p:sp>
        <p:nvSpPr>
          <p:cNvPr id="10" name="card-GK Sprint-line-2">
            <a:extLst xmlns:a="http://schemas.openxmlformats.org/drawingml/2006/main">
              <a:ext uri="{FF2B5EF4-FFF2-40B4-BE49-F238E27FC236}">
                <a16:creationId xmlns:a16="http://schemas.microsoft.com/office/drawing/2014/main" id="{AFBECE8E-4414-49FB-9AC7-228D9365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660+ cited, freshness-reviewed cards</a:t>
            </a:r>
          </a:p>
        </p:txBody>
      </p:sp>
      <p:sp>
        <p:nvSpPr>
          <p:cNvPr id="11" name="card-GK Sprint-line-3">
            <a:extLst xmlns:a="http://schemas.openxmlformats.org/drawingml/2006/main">
              <a:ext uri="{FF2B5EF4-FFF2-40B4-BE49-F238E27FC236}">
                <a16:creationId xmlns:a16="http://schemas.microsoft.com/office/drawing/2014/main" id="{BF5B4ECF-C760-408B-9394-B8EBD9D7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Wrong Box: missed / unsure review</a:t>
            </a:r>
          </a:p>
        </p:txBody>
      </p:sp>
      <p:sp>
        <p:nvSpPr>
          <p:cNvPr id="12" name="card-Drawing + peer loop">
            <a:extLst xmlns:a="http://schemas.openxmlformats.org/drawingml/2006/main">
              <a:ext uri="{FF2B5EF4-FFF2-40B4-BE49-F238E27FC236}">
                <a16:creationId xmlns:a16="http://schemas.microsoft.com/office/drawing/2014/main" id="{94302CB1-4C0C-4C42-8A8E-CAE0E736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5105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3" name="card-title-Drawing + peer loop">
            <a:extLst xmlns:a="http://schemas.openxmlformats.org/drawingml/2006/main">
              <a:ext uri="{FF2B5EF4-FFF2-40B4-BE49-F238E27FC236}">
                <a16:creationId xmlns:a16="http://schemas.microsoft.com/office/drawing/2014/main" id="{D38EEDFA-CE37-4818-BFB4-30A6669F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Drawing + peer loop</a:t>
            </a:r>
          </a:p>
        </p:txBody>
      </p:sp>
      <p:sp>
        <p:nvSpPr>
          <p:cNvPr id="14" name="card-Drawing + peer loop-line-0">
            <a:extLst xmlns:a="http://schemas.openxmlformats.org/drawingml/2006/main">
              <a:ext uri="{FF2B5EF4-FFF2-40B4-BE49-F238E27FC236}">
                <a16:creationId xmlns:a16="http://schemas.microsoft.com/office/drawing/2014/main" id="{AE01AFB3-9CF9-4CEA-B28E-78E730B0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Build a tagged prompt bank (benchmark: 121)</a:t>
            </a:r>
          </a:p>
        </p:txBody>
      </p:sp>
      <p:sp>
        <p:nvSpPr>
          <p:cNvPr id="15" name="card-Drawing + peer loop-line-1">
            <a:extLst xmlns:a="http://schemas.openxmlformats.org/drawingml/2006/main">
              <a:ext uri="{FF2B5EF4-FFF2-40B4-BE49-F238E27FC236}">
                <a16:creationId xmlns:a16="http://schemas.microsoft.com/office/drawing/2014/main" id="{7DA9C327-5A96-4945-9BCA-2BF719ED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Timer, brief, notes and clear rubric</a:t>
            </a:r>
          </a:p>
        </p:txBody>
      </p:sp>
      <p:sp>
        <p:nvSpPr>
          <p:cNvPr id="16" name="card-Drawing + peer loop-line-2">
            <a:extLst xmlns:a="http://schemas.openxmlformats.org/drawingml/2006/main">
              <a:ext uri="{FF2B5EF4-FFF2-40B4-BE49-F238E27FC236}">
                <a16:creationId xmlns:a16="http://schemas.microsoft.com/office/drawing/2014/main" id="{94EE707D-DFF7-4104-8ADF-C28309DD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Opt-in public gallery with consent/anonymity</a:t>
            </a:r>
          </a:p>
        </p:txBody>
      </p:sp>
      <p:sp>
        <p:nvSpPr>
          <p:cNvPr id="17" name="card-Drawing + peer loop-line-3">
            <a:extLst xmlns:a="http://schemas.openxmlformats.org/drawingml/2006/main">
              <a:ext uri="{FF2B5EF4-FFF2-40B4-BE49-F238E27FC236}">
                <a16:creationId xmlns:a16="http://schemas.microsoft.com/office/drawing/2014/main" id="{E6F27AB8-3064-4832-87BC-1C2B33DE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Moderation, reports, takedown and feedback</a:t>
            </a:r>
          </a:p>
        </p:txBody>
      </p:sp>
      <p:sp>
        <p:nvSpPr>
          <p:cNvPr id="18" name="current-vs-gap">
            <a:extLst xmlns:a="http://schemas.openxmlformats.org/drawingml/2006/main">
              <a:ext uri="{FF2B5EF4-FFF2-40B4-BE49-F238E27FC236}">
                <a16:creationId xmlns:a16="http://schemas.microsoft.com/office/drawing/2014/main" id="{E64712B9-13EB-46DA-9C44-BF24EEB2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Current app has private GK progress, guide quiz and private sketch uploads; parity requires public content volume, prompt authoring and safe community workflows.</a:t>
            </a:r>
          </a:p>
        </p:txBody>
      </p:sp>
    </p:spTree>
    <p:extLst>
      <p:ext uri="{BB962C8B-B14F-4D97-AF65-F5344CB8AC3E}">
        <p14:creationId xmlns:p14="http://schemas.microsoft.com/office/powerpoint/2010/main" val="7363003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">
            <a:extLst xmlns:a="http://schemas.openxmlformats.org/drawingml/2006/main">
              <a:ext uri="{FF2B5EF4-FFF2-40B4-BE49-F238E27FC236}">
                <a16:creationId xmlns:a16="http://schemas.microsoft.com/office/drawing/2014/main" id="{440827B6-B3AB-4C04-99CD-756B4B4F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6AD9995-6FC5-4DE7-84C0-0D2BF890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C7B59B-08F7-46C6-BBAD-80A64875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Build trust into analytics, guides and accounts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23B0682-F292-4A88-8EA0-1454B588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55C76C5-4E8C-4FE9-B95A-0E98E29C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292EB24A-37B4-4DAB-AF9B-BE732E2E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81B5AEAC-6D54-48BD-A6FE-6FEEBA0C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24000"/>
            <a:ext cx="10153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Expand reliable analytics: streaks, topic mastery, mock history, comparisons and data-threshold explanations.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91E160AF-EF94-49E6-A41D-3CEA741B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8CB2E2B-17BD-405D-95E0-D900D98F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10153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Create exam-specific guides with source links, review dates, worked examples and revision history.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6A91F956-6A1B-49F8-B6D4-1C26627C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C1668444-640A-42B6-BBC8-831EDDBD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10153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Add account onboarding, recovery, session/security controls, export/delete request and clear privacy/consent UX.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42D9CB26-4DA4-4130-8F79-A43FC096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7B2561BC-878B-4ACF-9032-B76AF647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10153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Add accessibility and low-bandwidth QA: keyboard, contrast, mobile, diagram fallback and reduced-motion.</a:t>
            </a:r>
          </a:p>
        </p:txBody>
      </p:sp>
      <p:sp>
        <p:nvSpPr>
          <p:cNvPr id="14" name="card-Keep metrics honest">
            <a:extLst xmlns:a="http://schemas.openxmlformats.org/drawingml/2006/main">
              <a:ext uri="{FF2B5EF4-FFF2-40B4-BE49-F238E27FC236}">
                <a16:creationId xmlns:a16="http://schemas.microsoft.com/office/drawing/2014/main" id="{55034A04-7240-47DB-94B8-7155CAA4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5" name="card-title-Keep metrics honest">
            <a:extLst xmlns:a="http://schemas.openxmlformats.org/drawingml/2006/main">
              <a:ext uri="{FF2B5EF4-FFF2-40B4-BE49-F238E27FC236}">
                <a16:creationId xmlns:a16="http://schemas.microsoft.com/office/drawing/2014/main" id="{DF8AEF67-88FE-42DF-AF9F-945C8906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996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Keep metrics honest</a:t>
            </a:r>
          </a:p>
        </p:txBody>
      </p:sp>
      <p:sp>
        <p:nvSpPr>
          <p:cNvPr id="16" name="card-Keep metrics honest-line-0">
            <a:extLst xmlns:a="http://schemas.openxmlformats.org/drawingml/2006/main">
              <a:ext uri="{FF2B5EF4-FFF2-40B4-BE49-F238E27FC236}">
                <a16:creationId xmlns:a16="http://schemas.microsoft.com/office/drawing/2014/main" id="{74D393F0-1EA3-45EE-81B4-5EE2D417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996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No fabricated schedule, retention, rank, or “AI” recommendation claims without real data.</a:t>
            </a:r>
          </a:p>
        </p:txBody>
      </p:sp>
    </p:spTree>
    <p:extLst>
      <p:ext uri="{BB962C8B-B14F-4D97-AF65-F5344CB8AC3E}">
        <p14:creationId xmlns:p14="http://schemas.microsoft.com/office/powerpoint/2010/main" val="7768931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988E7E80-08B3-4139-B83A-11A74B5A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7C93679-8E78-4BB3-AC4C-A36D7A7D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A1E1C2-394A-4371-850C-3F8F0059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If paid mocks are in scope, build the full service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E116EBD-CAC8-4AD8-85D1-E117B618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CAFA093-A269-42A8-8A12-86D088E3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card-Product flow">
            <a:extLst xmlns:a="http://schemas.openxmlformats.org/drawingml/2006/main">
              <a:ext uri="{FF2B5EF4-FFF2-40B4-BE49-F238E27FC236}">
                <a16:creationId xmlns:a16="http://schemas.microsoft.com/office/drawing/2014/main" id="{A80C1326-D0DD-49E6-AE63-9B28A062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51054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7" name="card-title-Product flow">
            <a:extLst xmlns:a="http://schemas.openxmlformats.org/drawingml/2006/main">
              <a:ext uri="{FF2B5EF4-FFF2-40B4-BE49-F238E27FC236}">
                <a16:creationId xmlns:a16="http://schemas.microsoft.com/office/drawing/2014/main" id="{A05ECADE-44E4-4DC4-B510-65693792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Product flow</a:t>
            </a:r>
          </a:p>
        </p:txBody>
      </p:sp>
      <p:sp>
        <p:nvSpPr>
          <p:cNvPr id="8" name="card-Product flow-line-0">
            <a:extLst xmlns:a="http://schemas.openxmlformats.org/drawingml/2006/main">
              <a:ext uri="{FF2B5EF4-FFF2-40B4-BE49-F238E27FC236}">
                <a16:creationId xmlns:a16="http://schemas.microsoft.com/office/drawing/2014/main" id="{251329CC-2468-45E8-94C3-1D4C3ED9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Published date/time, capacity and eligibility</a:t>
            </a:r>
          </a:p>
        </p:txBody>
      </p:sp>
      <p:sp>
        <p:nvSpPr>
          <p:cNvPr id="9" name="card-Product flow-line-1">
            <a:extLst xmlns:a="http://schemas.openxmlformats.org/drawingml/2006/main">
              <a:ext uri="{FF2B5EF4-FFF2-40B4-BE49-F238E27FC236}">
                <a16:creationId xmlns:a16="http://schemas.microsoft.com/office/drawing/2014/main" id="{725DF25E-D934-4341-B664-B9F6C302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Registration, confirmation and reminder</a:t>
            </a:r>
          </a:p>
        </p:txBody>
      </p:sp>
      <p:sp>
        <p:nvSpPr>
          <p:cNvPr id="10" name="card-Product flow-line-2">
            <a:extLst xmlns:a="http://schemas.openxmlformats.org/drawingml/2006/main">
              <a:ext uri="{FF2B5EF4-FFF2-40B4-BE49-F238E27FC236}">
                <a16:creationId xmlns:a16="http://schemas.microsoft.com/office/drawing/2014/main" id="{776B53D5-1006-49B6-A966-32F10C69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Payment provider + signed webhooks</a:t>
            </a:r>
          </a:p>
        </p:txBody>
      </p:sp>
      <p:sp>
        <p:nvSpPr>
          <p:cNvPr id="11" name="card-Product flow-line-3">
            <a:extLst xmlns:a="http://schemas.openxmlformats.org/drawingml/2006/main">
              <a:ext uri="{FF2B5EF4-FFF2-40B4-BE49-F238E27FC236}">
                <a16:creationId xmlns:a16="http://schemas.microsoft.com/office/drawing/2014/main" id="{8B79AC3D-C4C5-4F1F-9CD1-F49CF36E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Cancel/refund and seat reconciliation</a:t>
            </a:r>
          </a:p>
        </p:txBody>
      </p:sp>
      <p:sp>
        <p:nvSpPr>
          <p:cNvPr id="12" name="card-Exam-day + review">
            <a:extLst xmlns:a="http://schemas.openxmlformats.org/drawingml/2006/main">
              <a:ext uri="{FF2B5EF4-FFF2-40B4-BE49-F238E27FC236}">
                <a16:creationId xmlns:a16="http://schemas.microsoft.com/office/drawing/2014/main" id="{9D473A3A-8FB5-4622-8D7F-AA1730A7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51054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3" name="card-title-Exam-day + review">
            <a:extLst xmlns:a="http://schemas.openxmlformats.org/drawingml/2006/main">
              <a:ext uri="{FF2B5EF4-FFF2-40B4-BE49-F238E27FC236}">
                <a16:creationId xmlns:a16="http://schemas.microsoft.com/office/drawing/2014/main" id="{7A1A0D09-D532-4FF5-8665-9497D8AB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Exam-day + review</a:t>
            </a:r>
          </a:p>
        </p:txBody>
      </p:sp>
      <p:sp>
        <p:nvSpPr>
          <p:cNvPr id="14" name="card-Exam-day + review-line-0">
            <a:extLst xmlns:a="http://schemas.openxmlformats.org/drawingml/2006/main">
              <a:ext uri="{FF2B5EF4-FFF2-40B4-BE49-F238E27FC236}">
                <a16:creationId xmlns:a16="http://schemas.microsoft.com/office/drawing/2014/main" id="{E4756B6E-6BBD-4708-911D-0D842E2A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Timed Part A + Part B submission</a:t>
            </a:r>
          </a:p>
        </p:txBody>
      </p:sp>
      <p:sp>
        <p:nvSpPr>
          <p:cNvPr id="15" name="card-Exam-day + review-line-1">
            <a:extLst xmlns:a="http://schemas.openxmlformats.org/drawingml/2006/main">
              <a:ext uri="{FF2B5EF4-FFF2-40B4-BE49-F238E27FC236}">
                <a16:creationId xmlns:a16="http://schemas.microsoft.com/office/drawing/2014/main" id="{D541A401-9DC3-492D-AC39-A54F8E73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Human scoring rubric + reviewer workflow</a:t>
            </a:r>
          </a:p>
        </p:txBody>
      </p:sp>
      <p:sp>
        <p:nvSpPr>
          <p:cNvPr id="16" name="card-Exam-day + review-line-2">
            <a:extLst xmlns:a="http://schemas.openxmlformats.org/drawingml/2006/main">
              <a:ext uri="{FF2B5EF4-FFF2-40B4-BE49-F238E27FC236}">
                <a16:creationId xmlns:a16="http://schemas.microsoft.com/office/drawing/2014/main" id="{4D0379DE-2325-4E5F-9F40-BDDEF3B9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Published rank/analysis only after review</a:t>
            </a:r>
          </a:p>
        </p:txBody>
      </p:sp>
      <p:sp>
        <p:nvSpPr>
          <p:cNvPr id="17" name="card-Exam-day + review-line-3">
            <a:extLst xmlns:a="http://schemas.openxmlformats.org/drawingml/2006/main">
              <a:ext uri="{FF2B5EF4-FFF2-40B4-BE49-F238E27FC236}">
                <a16:creationId xmlns:a16="http://schemas.microsoft.com/office/drawing/2014/main" id="{8F9D8FA5-EAEC-4336-BA95-80EADFD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Dispute, support and audit trail</a:t>
            </a:r>
          </a:p>
        </p:txBody>
      </p:sp>
      <p:sp>
        <p:nvSpPr>
          <p:cNvPr id="18" name="scope-note">
            <a:extLst xmlns:a="http://schemas.openxmlformats.org/drawingml/2006/main">
              <a:ext uri="{FF2B5EF4-FFF2-40B4-BE49-F238E27FC236}">
                <a16:creationId xmlns:a16="http://schemas.microsoft.com/office/drawing/2014/main" id="{BC09E753-E862-4E50-878B-6BBC080F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Roughworks’ 2026 mock page showed ₹99, 100 seats and human-evaluated Part B. Treat paid events as an optional product decision, not a launch prerequisite.</a:t>
            </a:r>
          </a:p>
        </p:txBody>
      </p:sp>
    </p:spTree>
    <p:extLst>
      <p:ext uri="{BB962C8B-B14F-4D97-AF65-F5344CB8AC3E}">
        <p14:creationId xmlns:p14="http://schemas.microsoft.com/office/powerpoint/2010/main" val="17573454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accent">
            <a:extLst xmlns:a="http://schemas.openxmlformats.org/drawingml/2006/main">
              <a:ext uri="{FF2B5EF4-FFF2-40B4-BE49-F238E27FC236}">
                <a16:creationId xmlns:a16="http://schemas.microsoft.com/office/drawing/2014/main" id="{4561ADFB-9378-409F-AC8F-2D680A92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5B64217-FFE7-4C07-BFC9-A19976E5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1A1D71-84DB-4078-9672-929E4427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Roughworks-ready backlog: sequence by risk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B9D9AF5-6E6A-4137-95EC-D71C93CA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808C00B-C8D0-4E8E-AB87-3031198C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p-0-label">
            <a:extLst xmlns:a="http://schemas.openxmlformats.org/drawingml/2006/main">
              <a:ext uri="{FF2B5EF4-FFF2-40B4-BE49-F238E27FC236}">
                <a16:creationId xmlns:a16="http://schemas.microsoft.com/office/drawing/2014/main" id="{80435121-A2BF-469A-8D82-2D7D6A91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P0 · NOW</a:t>
            </a:r>
          </a:p>
        </p:txBody>
      </p:sp>
      <p:sp>
        <p:nvSpPr>
          <p:cNvPr id="7" name="p-0-title">
            <a:extLst xmlns:a="http://schemas.openxmlformats.org/drawingml/2006/main">
              <a:ext uri="{FF2B5EF4-FFF2-40B4-BE49-F238E27FC236}">
                <a16:creationId xmlns:a16="http://schemas.microsoft.com/office/drawing/2014/main" id="{44CA3D74-ED60-480E-A298-2A77EFDA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382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Structured QA</a:t>
            </a:r>
          </a:p>
        </p:txBody>
      </p:sp>
      <p:sp>
        <p:nvSpPr>
          <p:cNvPr id="8" name="p-0-eta">
            <a:extLst xmlns:a="http://schemas.openxmlformats.org/drawingml/2006/main">
              <a:ext uri="{FF2B5EF4-FFF2-40B4-BE49-F238E27FC236}">
                <a16:creationId xmlns:a16="http://schemas.microsoft.com/office/drawing/2014/main" id="{BFDA812F-0851-4E62-9117-E62BB50F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3827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2–4 days</a:t>
            </a:r>
          </a:p>
        </p:txBody>
      </p:sp>
      <p:sp>
        <p:nvSpPr>
          <p:cNvPr id="9" name="p-0-text">
            <a:extLst xmlns:a="http://schemas.openxmlformats.org/drawingml/2006/main">
              <a:ext uri="{FF2B5EF4-FFF2-40B4-BE49-F238E27FC236}">
                <a16:creationId xmlns:a16="http://schemas.microsoft.com/office/drawing/2014/main" id="{EC92A595-88B7-42DD-A8CD-2205ED39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Route checklist, test accounts, seeded fixtures, defect triage; add API/browser regression for every blocker.</a:t>
            </a:r>
          </a:p>
        </p:txBody>
      </p:sp>
      <p:sp>
        <p:nvSpPr>
          <p:cNvPr id="10" name="p-line-0">
            <a:extLst xmlns:a="http://schemas.openxmlformats.org/drawingml/2006/main">
              <a:ext uri="{FF2B5EF4-FFF2-40B4-BE49-F238E27FC236}">
                <a16:creationId xmlns:a16="http://schemas.microsoft.com/office/drawing/2014/main" id="{493290A2-4F0B-43A3-950D-F775431B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-1-label">
            <a:extLst xmlns:a="http://schemas.openxmlformats.org/drawingml/2006/main">
              <a:ext uri="{FF2B5EF4-FFF2-40B4-BE49-F238E27FC236}">
                <a16:creationId xmlns:a16="http://schemas.microsoft.com/office/drawing/2014/main" id="{46FEE3E5-E495-4CE7-A8DC-B72B8C63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P1 · CONTENT</a:t>
            </a:r>
          </a:p>
        </p:txBody>
      </p:sp>
      <p:sp>
        <p:nvSpPr>
          <p:cNvPr id="12" name="p-1-title">
            <a:extLst xmlns:a="http://schemas.openxmlformats.org/drawingml/2006/main">
              <a:ext uri="{FF2B5EF4-FFF2-40B4-BE49-F238E27FC236}">
                <a16:creationId xmlns:a16="http://schemas.microsoft.com/office/drawing/2014/main" id="{A4E85205-9688-495B-A770-CE0DFF6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717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UCEED parity</a:t>
            </a:r>
          </a:p>
        </p:txBody>
      </p:sp>
      <p:sp>
        <p:nvSpPr>
          <p:cNvPr id="13" name="p-1-eta">
            <a:extLst xmlns:a="http://schemas.openxmlformats.org/drawingml/2006/main">
              <a:ext uri="{FF2B5EF4-FFF2-40B4-BE49-F238E27FC236}">
                <a16:creationId xmlns:a16="http://schemas.microsoft.com/office/drawing/2014/main" id="{66A11D93-7F61-49D4-85E5-479AEA49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1–2 weeks</a:t>
            </a:r>
          </a:p>
        </p:txBody>
      </p:sp>
      <p:sp>
        <p:nvSpPr>
          <p:cNvPr id="14" name="p-1-text">
            <a:extLst xmlns:a="http://schemas.openxmlformats.org/drawingml/2006/main">
              <a:ext uri="{FF2B5EF4-FFF2-40B4-BE49-F238E27FC236}">
                <a16:creationId xmlns:a16="http://schemas.microsoft.com/office/drawing/2014/main" id="{3D882847-4982-4417-9B39-934E05D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6217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Transcribe UCEED 2015–16 (180 Q), keys, diagrams, marks; independently review; verify/import available CEED papers and add 2026 only from an authorized source.</a:t>
            </a:r>
          </a:p>
        </p:txBody>
      </p:sp>
      <p:sp>
        <p:nvSpPr>
          <p:cNvPr id="15" name="p-line-1">
            <a:extLst xmlns:a="http://schemas.openxmlformats.org/drawingml/2006/main">
              <a:ext uri="{FF2B5EF4-FFF2-40B4-BE49-F238E27FC236}">
                <a16:creationId xmlns:a16="http://schemas.microsoft.com/office/drawing/2014/main" id="{71EB9711-9D1F-47E6-A60D-B3FF3E80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-2-label">
            <a:extLst xmlns:a="http://schemas.openxmlformats.org/drawingml/2006/main">
              <a:ext uri="{FF2B5EF4-FFF2-40B4-BE49-F238E27FC236}">
                <a16:creationId xmlns:a16="http://schemas.microsoft.com/office/drawing/2014/main" id="{8F35AB84-9880-40F9-A1E9-4337CEFD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P2 · EXPANSION</a:t>
            </a:r>
          </a:p>
        </p:txBody>
      </p:sp>
      <p:sp>
        <p:nvSpPr>
          <p:cNvPr id="17" name="p-2-title">
            <a:extLst xmlns:a="http://schemas.openxmlformats.org/drawingml/2006/main">
              <a:ext uri="{FF2B5EF4-FFF2-40B4-BE49-F238E27FC236}">
                <a16:creationId xmlns:a16="http://schemas.microsoft.com/office/drawing/2014/main" id="{3C7A7389-C85B-4B40-B0A5-7C1862FC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051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CEED / NID / NIFT</a:t>
            </a:r>
          </a:p>
        </p:txBody>
      </p:sp>
      <p:sp>
        <p:nvSpPr>
          <p:cNvPr id="18" name="p-2-eta">
            <a:extLst xmlns:a="http://schemas.openxmlformats.org/drawingml/2006/main">
              <a:ext uri="{FF2B5EF4-FFF2-40B4-BE49-F238E27FC236}">
                <a16:creationId xmlns:a16="http://schemas.microsoft.com/office/drawing/2014/main" id="{1ED5A3E8-61C5-4D00-B4F9-157163A9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2–4 weeks</a:t>
            </a:r>
          </a:p>
        </p:txBody>
      </p:sp>
      <p:sp>
        <p:nvSpPr>
          <p:cNvPr id="19" name="p-2-text">
            <a:extLst xmlns:a="http://schemas.openxmlformats.org/drawingml/2006/main">
              <a:ext uri="{FF2B5EF4-FFF2-40B4-BE49-F238E27FC236}">
                <a16:creationId xmlns:a16="http://schemas.microsoft.com/office/drawing/2014/main" id="{AE0DCE14-0F61-4E1A-AEEC-FA0D1AB6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Acquire authoritative/licensed papers and keys; build topic/year banks; source notes, dedupe and editorial review.</a:t>
            </a:r>
          </a:p>
        </p:txBody>
      </p:sp>
      <p:sp>
        <p:nvSpPr>
          <p:cNvPr id="20" name="p-line-2">
            <a:extLst xmlns:a="http://schemas.openxmlformats.org/drawingml/2006/main">
              <a:ext uri="{FF2B5EF4-FFF2-40B4-BE49-F238E27FC236}">
                <a16:creationId xmlns:a16="http://schemas.microsoft.com/office/drawing/2014/main" id="{EA065763-0188-4F62-9D49-973DD229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-3-label">
            <a:extLst xmlns:a="http://schemas.openxmlformats.org/drawingml/2006/main">
              <a:ext uri="{FF2B5EF4-FFF2-40B4-BE49-F238E27FC236}">
                <a16:creationId xmlns:a16="http://schemas.microsoft.com/office/drawing/2014/main" id="{E11CE224-85B9-4E19-AD93-28003CD6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P3 · RETENTION</a:t>
            </a:r>
          </a:p>
        </p:txBody>
      </p:sp>
      <p:sp>
        <p:nvSpPr>
          <p:cNvPr id="22" name="p-3-title">
            <a:extLst xmlns:a="http://schemas.openxmlformats.org/drawingml/2006/main">
              <a:ext uri="{FF2B5EF4-FFF2-40B4-BE49-F238E27FC236}">
                <a16:creationId xmlns:a16="http://schemas.microsoft.com/office/drawing/2014/main" id="{B8D49C06-6E08-4201-8B98-1E7DF71F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GK + Part B</a:t>
            </a:r>
          </a:p>
        </p:txBody>
      </p:sp>
      <p:sp>
        <p:nvSpPr>
          <p:cNvPr id="23" name="p-3-eta">
            <a:extLst xmlns:a="http://schemas.openxmlformats.org/drawingml/2006/main">
              <a:ext uri="{FF2B5EF4-FFF2-40B4-BE49-F238E27FC236}">
                <a16:creationId xmlns:a16="http://schemas.microsoft.com/office/drawing/2014/main" id="{0AF84B2B-21E0-4353-852C-12A58029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2–4 weeks</a:t>
            </a:r>
          </a:p>
        </p:txBody>
      </p:sp>
      <p:sp>
        <p:nvSpPr>
          <p:cNvPr id="24" name="p-3-text">
            <a:extLst xmlns:a="http://schemas.openxmlformats.org/drawingml/2006/main">
              <a:ext uri="{FF2B5EF4-FFF2-40B4-BE49-F238E27FC236}">
                <a16:creationId xmlns:a16="http://schemas.microsoft.com/office/drawing/2014/main" id="{76A1352A-5280-427C-8CCC-FE72A90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2902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Daily GK, cited 660+ roadmap, 121 prompt target, rubric/timer, opt-in moderated gallery.</a:t>
            </a:r>
          </a:p>
        </p:txBody>
      </p:sp>
      <p:sp>
        <p:nvSpPr>
          <p:cNvPr id="25" name="p-line-3">
            <a:extLst xmlns:a="http://schemas.openxmlformats.org/drawingml/2006/main">
              <a:ext uri="{FF2B5EF4-FFF2-40B4-BE49-F238E27FC236}">
                <a16:creationId xmlns:a16="http://schemas.microsoft.com/office/drawing/2014/main" id="{BE64DECE-86DD-4223-8A22-7558B2D9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-4-label">
            <a:extLst xmlns:a="http://schemas.openxmlformats.org/drawingml/2006/main">
              <a:ext uri="{FF2B5EF4-FFF2-40B4-BE49-F238E27FC236}">
                <a16:creationId xmlns:a16="http://schemas.microsoft.com/office/drawing/2014/main" id="{DE528D78-1DA9-4B58-8B47-7C016982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P4 · TRUST</a:t>
            </a:r>
          </a:p>
        </p:txBody>
      </p:sp>
      <p:sp>
        <p:nvSpPr>
          <p:cNvPr id="27" name="p-4-title">
            <a:extLst xmlns:a="http://schemas.openxmlformats.org/drawingml/2006/main">
              <a:ext uri="{FF2B5EF4-FFF2-40B4-BE49-F238E27FC236}">
                <a16:creationId xmlns:a16="http://schemas.microsoft.com/office/drawing/2014/main" id="{33A92CB1-ED68-42D3-BB45-3EC06895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719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Accounts + launch</a:t>
            </a:r>
          </a:p>
        </p:txBody>
      </p:sp>
      <p:sp>
        <p:nvSpPr>
          <p:cNvPr id="28" name="p-4-eta">
            <a:extLst xmlns:a="http://schemas.openxmlformats.org/drawingml/2006/main">
              <a:ext uri="{FF2B5EF4-FFF2-40B4-BE49-F238E27FC236}">
                <a16:creationId xmlns:a16="http://schemas.microsoft.com/office/drawing/2014/main" id="{2D0DB961-A4B1-48A9-9FAB-D2F1D68D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7197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2–4 weeks</a:t>
            </a:r>
          </a:p>
        </p:txBody>
      </p:sp>
      <p:sp>
        <p:nvSpPr>
          <p:cNvPr id="29" name="p-4-text">
            <a:extLst xmlns:a="http://schemas.openxmlformats.org/drawingml/2006/main">
              <a:ext uri="{FF2B5EF4-FFF2-40B4-BE49-F238E27FC236}">
                <a16:creationId xmlns:a16="http://schemas.microsoft.com/office/drawing/2014/main" id="{0D81BB8D-4C1D-48CC-A316-8CE51F70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624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Accessibility, privacy/delete, backups/restore, alerts, support, load and security acceptance.</a:t>
            </a:r>
          </a:p>
        </p:txBody>
      </p:sp>
      <p:sp>
        <p:nvSpPr>
          <p:cNvPr id="30" name="p-line-4">
            <a:extLst xmlns:a="http://schemas.openxmlformats.org/drawingml/2006/main">
              <a:ext uri="{FF2B5EF4-FFF2-40B4-BE49-F238E27FC236}">
                <a16:creationId xmlns:a16="http://schemas.microsoft.com/office/drawing/2014/main" id="{4BAE5080-FEC4-4A81-B104-83AB4ECB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-5-label">
            <a:extLst xmlns:a="http://schemas.openxmlformats.org/drawingml/2006/main">
              <a:ext uri="{FF2B5EF4-FFF2-40B4-BE49-F238E27FC236}">
                <a16:creationId xmlns:a16="http://schemas.microsoft.com/office/drawing/2014/main" id="{A11EAE22-3785-46D6-B01A-BA0578C3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A6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A6FF"/>
                </a:solidFill>
                <a:latin typeface="Arial"/>
                <a:ea typeface="Arial"/>
                <a:cs typeface="Arial"/>
              </a:rPr>
              <a:t>P5 · OPTIONAL</a:t>
            </a:r>
          </a:p>
        </p:txBody>
      </p:sp>
      <p:sp>
        <p:nvSpPr>
          <p:cNvPr id="32" name="p-5-title">
            <a:extLst xmlns:a="http://schemas.openxmlformats.org/drawingml/2006/main">
              <a:ext uri="{FF2B5EF4-FFF2-40B4-BE49-F238E27FC236}">
                <a16:creationId xmlns:a16="http://schemas.microsoft.com/office/drawing/2014/main" id="{E8FAF980-AD8B-42DE-88CD-A4F62D5C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054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Paid mocks</a:t>
            </a:r>
          </a:p>
        </p:txBody>
      </p:sp>
      <p:sp>
        <p:nvSpPr>
          <p:cNvPr id="33" name="p-5-eta">
            <a:extLst xmlns:a="http://schemas.openxmlformats.org/drawingml/2006/main">
              <a:ext uri="{FF2B5EF4-FFF2-40B4-BE49-F238E27FC236}">
                <a16:creationId xmlns:a16="http://schemas.microsoft.com/office/drawing/2014/main" id="{C58204AA-8AD1-41A5-9449-C48E2566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054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CA66"/>
                </a:solidFill>
                <a:latin typeface="Arial"/>
                <a:ea typeface="Arial"/>
                <a:cs typeface="Arial"/>
              </a:rPr>
              <a:t>4–8 weeks</a:t>
            </a:r>
          </a:p>
        </p:txBody>
      </p:sp>
      <p:sp>
        <p:nvSpPr>
          <p:cNvPr id="34" name="p-5-text">
            <a:extLst xmlns:a="http://schemas.openxmlformats.org/drawingml/2006/main">
              <a:ext uri="{FF2B5EF4-FFF2-40B4-BE49-F238E27FC236}">
                <a16:creationId xmlns:a16="http://schemas.microsoft.com/office/drawing/2014/main" id="{5B1E1613-B491-4AA2-90FC-093AB18F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9587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Registration, payments/refunds, event ops, human Part B grading, rank/dispute workflow.</a:t>
            </a:r>
          </a:p>
        </p:txBody>
      </p:sp>
      <p:sp>
        <p:nvSpPr>
          <p:cNvPr id="35" name="p-line-5">
            <a:extLst xmlns:a="http://schemas.openxmlformats.org/drawingml/2006/main">
              <a:ext uri="{FF2B5EF4-FFF2-40B4-BE49-F238E27FC236}">
                <a16:creationId xmlns:a16="http://schemas.microsoft.com/office/drawing/2014/main" id="{50647BE4-584F-478D-A674-C7DB0766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estimate-warning">
            <a:extLst xmlns:a="http://schemas.openxmlformats.org/drawingml/2006/main">
              <a:ext uri="{FF2B5EF4-FFF2-40B4-BE49-F238E27FC236}">
                <a16:creationId xmlns:a16="http://schemas.microsoft.com/office/drawing/2014/main" id="{F4C33690-CEAA-410B-9DD3-4E68E4AF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Effort ranges are planning estimates only; revise after QA scope, content rights and reviewer capacity are confirmed.</a:t>
            </a:r>
          </a:p>
        </p:txBody>
      </p:sp>
    </p:spTree>
    <p:extLst>
      <p:ext uri="{BB962C8B-B14F-4D97-AF65-F5344CB8AC3E}">
        <p14:creationId xmlns:p14="http://schemas.microsoft.com/office/powerpoint/2010/main" val="5492331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ccent">
            <a:extLst xmlns:a="http://schemas.openxmlformats.org/drawingml/2006/main">
              <a:ext uri="{FF2B5EF4-FFF2-40B4-BE49-F238E27FC236}">
                <a16:creationId xmlns:a16="http://schemas.microsoft.com/office/drawing/2014/main" id="{6627B5F8-A14F-4346-A08C-53B17470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55D2D2C-D876-4EAA-8266-5A79B152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FINAL DEBUG • PRODUCT READINESS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0AB558-C186-4FFA-863F-3D72FB3B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Testing can begin now; launch sign-off needs evidence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B9E30F8-133A-42AE-8D73-920945D8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3E2A760-BFA8-418A-8927-E5A3EFAA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card-Start QA now">
            <a:extLst xmlns:a="http://schemas.openxmlformats.org/drawingml/2006/main">
              <a:ext uri="{FF2B5EF4-FFF2-40B4-BE49-F238E27FC236}">
                <a16:creationId xmlns:a16="http://schemas.microsoft.com/office/drawing/2014/main" id="{1E7022BD-1D28-4F86-82C1-B461E998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51054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7" name="card-title-Start QA now">
            <a:extLst xmlns:a="http://schemas.openxmlformats.org/drawingml/2006/main">
              <a:ext uri="{FF2B5EF4-FFF2-40B4-BE49-F238E27FC236}">
                <a16:creationId xmlns:a16="http://schemas.microsoft.com/office/drawing/2014/main" id="{20CA7063-A504-41E5-958F-69D08920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2D3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2D39A"/>
                </a:solidFill>
                <a:latin typeface="Arial"/>
                <a:ea typeface="Arial"/>
                <a:cs typeface="Arial"/>
              </a:rPr>
              <a:t>Start QA now</a:t>
            </a:r>
          </a:p>
        </p:txBody>
      </p:sp>
      <p:sp>
        <p:nvSpPr>
          <p:cNvPr id="8" name="card-Start QA now-line-0">
            <a:extLst xmlns:a="http://schemas.openxmlformats.org/drawingml/2006/main">
              <a:ext uri="{FF2B5EF4-FFF2-40B4-BE49-F238E27FC236}">
                <a16:creationId xmlns:a16="http://schemas.microsoft.com/office/drawing/2014/main" id="{2BE92B79-9528-46AE-8537-5260748F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Smoke test each role and all 10 tabs</a:t>
            </a:r>
          </a:p>
        </p:txBody>
      </p:sp>
      <p:sp>
        <p:nvSpPr>
          <p:cNvPr id="9" name="card-Start QA now-line-1">
            <a:extLst xmlns:a="http://schemas.openxmlformats.org/drawingml/2006/main">
              <a:ext uri="{FF2B5EF4-FFF2-40B4-BE49-F238E27FC236}">
                <a16:creationId xmlns:a16="http://schemas.microsoft.com/office/drawing/2014/main" id="{A8E2519D-2F16-443E-BD6C-0AFCB698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Paper start → save → reload → submit → result</a:t>
            </a:r>
          </a:p>
        </p:txBody>
      </p:sp>
      <p:sp>
        <p:nvSpPr>
          <p:cNvPr id="10" name="card-Start QA now-line-2">
            <a:extLst xmlns:a="http://schemas.openxmlformats.org/drawingml/2006/main">
              <a:ext uri="{FF2B5EF4-FFF2-40B4-BE49-F238E27FC236}">
                <a16:creationId xmlns:a16="http://schemas.microsoft.com/office/drawing/2014/main" id="{C37A845B-1012-47DA-B467-99EF2071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Check assignment boundaries and private keys</a:t>
            </a:r>
          </a:p>
        </p:txBody>
      </p:sp>
      <p:sp>
        <p:nvSpPr>
          <p:cNvPr id="11" name="card-Start QA now-line-3">
            <a:extLst xmlns:a="http://schemas.openxmlformats.org/drawingml/2006/main">
              <a:ext uri="{FF2B5EF4-FFF2-40B4-BE49-F238E27FC236}">
                <a16:creationId xmlns:a16="http://schemas.microsoft.com/office/drawing/2014/main" id="{A7538145-D796-430B-A45F-1A883FCA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Verify imports / images / mobile / keyboard</a:t>
            </a:r>
          </a:p>
        </p:txBody>
      </p:sp>
      <p:sp>
        <p:nvSpPr>
          <p:cNvPr id="12" name="card-Start QA now-line-4">
            <a:extLst xmlns:a="http://schemas.openxmlformats.org/drawingml/2006/main">
              <a:ext uri="{FF2B5EF4-FFF2-40B4-BE49-F238E27FC236}">
                <a16:creationId xmlns:a16="http://schemas.microsoft.com/office/drawing/2014/main" id="{0535B6A0-3A0C-436D-89BD-08E8D4E2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Log reproducible defects; retest fixes</a:t>
            </a:r>
          </a:p>
        </p:txBody>
      </p:sp>
      <p:sp>
        <p:nvSpPr>
          <p:cNvPr id="13" name="card-Before production sign-off">
            <a:extLst xmlns:a="http://schemas.openxmlformats.org/drawingml/2006/main">
              <a:ext uri="{FF2B5EF4-FFF2-40B4-BE49-F238E27FC236}">
                <a16:creationId xmlns:a16="http://schemas.microsoft.com/office/drawing/2014/main" id="{775AC904-ADBF-4334-A231-74CFFD09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51054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21A2B"/>
          </a:solidFill>
          <a:ln xmlns:a="http://schemas.openxmlformats.org/drawingml/2006/main" w="9525">
            <a:solidFill>
              <a:srgbClr val="26334A"/>
            </a:solidFill>
            <a:prstDash val="solid"/>
          </a:ln>
        </p:spPr>
      </p:sp>
      <p:sp>
        <p:nvSpPr>
          <p:cNvPr id="14" name="card-title-Before production sign-off">
            <a:extLst xmlns:a="http://schemas.openxmlformats.org/drawingml/2006/main">
              <a:ext uri="{FF2B5EF4-FFF2-40B4-BE49-F238E27FC236}">
                <a16:creationId xmlns:a16="http://schemas.microsoft.com/office/drawing/2014/main" id="{BE6190EE-B1DF-407E-8F54-96BBB02F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A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CA66"/>
                </a:solidFill>
                <a:latin typeface="Arial"/>
                <a:ea typeface="Arial"/>
                <a:cs typeface="Arial"/>
              </a:rPr>
              <a:t>Before production sign-off</a:t>
            </a:r>
          </a:p>
        </p:txBody>
      </p:sp>
      <p:sp>
        <p:nvSpPr>
          <p:cNvPr id="15" name="card-Before production sign-off-line-0">
            <a:extLst xmlns:a="http://schemas.openxmlformats.org/drawingml/2006/main">
              <a:ext uri="{FF2B5EF4-FFF2-40B4-BE49-F238E27FC236}">
                <a16:creationId xmlns:a16="http://schemas.microsoft.com/office/drawing/2014/main" id="{CDC47DA3-EEEB-4E9B-B39B-D370F399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Deployed environment + HTTPS/origin check</a:t>
            </a:r>
          </a:p>
        </p:txBody>
      </p:sp>
      <p:sp>
        <p:nvSpPr>
          <p:cNvPr id="16" name="card-Before production sign-off-line-1">
            <a:extLst xmlns:a="http://schemas.openxmlformats.org/drawingml/2006/main">
              <a:ext uri="{FF2B5EF4-FFF2-40B4-BE49-F238E27FC236}">
                <a16:creationId xmlns:a16="http://schemas.microsoft.com/office/drawing/2014/main" id="{5FF9FBE8-402B-4022-885B-46944AF5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Real database migration + backup restore</a:t>
            </a:r>
          </a:p>
        </p:txBody>
      </p:sp>
      <p:sp>
        <p:nvSpPr>
          <p:cNvPr id="17" name="card-Before production sign-off-line-2">
            <a:extLst xmlns:a="http://schemas.openxmlformats.org/drawingml/2006/main">
              <a:ext uri="{FF2B5EF4-FFF2-40B4-BE49-F238E27FC236}">
                <a16:creationId xmlns:a16="http://schemas.microsoft.com/office/drawing/2014/main" id="{4A624766-F2B3-449F-A265-4BA7C1CD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OTP and account lifecycle end-to-end</a:t>
            </a:r>
          </a:p>
        </p:txBody>
      </p:sp>
      <p:sp>
        <p:nvSpPr>
          <p:cNvPr id="18" name="card-Before production sign-off-line-3">
            <a:extLst xmlns:a="http://schemas.openxmlformats.org/drawingml/2006/main">
              <a:ext uri="{FF2B5EF4-FFF2-40B4-BE49-F238E27FC236}">
                <a16:creationId xmlns:a16="http://schemas.microsoft.com/office/drawing/2014/main" id="{A5A8CC3A-2696-4E78-8127-BA077066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Production-scale load + monitoring / alert test</a:t>
            </a:r>
          </a:p>
        </p:txBody>
      </p:sp>
      <p:sp>
        <p:nvSpPr>
          <p:cNvPr id="19" name="card-Before production sign-off-line-4">
            <a:extLst xmlns:a="http://schemas.openxmlformats.org/drawingml/2006/main">
              <a:ext uri="{FF2B5EF4-FFF2-40B4-BE49-F238E27FC236}">
                <a16:creationId xmlns:a16="http://schemas.microsoft.com/office/drawing/2014/main" id="{93662381-E068-4384-ABB4-05F4CF85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Privacy, support, rollback and content sign-off</a:t>
            </a:r>
          </a:p>
        </p:txBody>
      </p:sp>
      <p:sp>
        <p:nvSpPr>
          <p:cNvPr id="20" name="testing-decision">
            <a:extLst xmlns:a="http://schemas.openxmlformats.org/drawingml/2006/main">
              <a:ext uri="{FF2B5EF4-FFF2-40B4-BE49-F238E27FC236}">
                <a16:creationId xmlns:a16="http://schemas.microsoft.com/office/drawing/2014/main" id="{F4C45721-701E-4091-97B0-9A823FA1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final “debug” pass found no failing automated or browser checks. It found an import-parity backlog and unverified hosted release gates.</a:t>
            </a:r>
          </a:p>
        </p:txBody>
      </p:sp>
    </p:spTree>
    <p:extLst>
      <p:ext uri="{BB962C8B-B14F-4D97-AF65-F5344CB8AC3E}">
        <p14:creationId xmlns:p14="http://schemas.microsoft.com/office/powerpoint/2010/main" val="6273141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ccent">
            <a:extLst xmlns:a="http://schemas.openxmlformats.org/drawingml/2006/main">
              <a:ext uri="{FF2B5EF4-FFF2-40B4-BE49-F238E27FC236}">
                <a16:creationId xmlns:a16="http://schemas.microsoft.com/office/drawing/2014/main" id="{DE82B819-4007-4562-8DFB-DC7D3D8E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CB5477F-2EB2-480E-962B-70A0920F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3D9C3"/>
                </a:solidFill>
                <a:latin typeface="Arial"/>
                <a:ea typeface="Arial"/>
                <a:cs typeface="Arial"/>
              </a:rPr>
              <a:t>REFERENCES • SNAPSHOT 05 OCT 2026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868A7D-E4B1-47AC-919F-7EC7A554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Sources &amp; evidence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37E8538-2508-47FD-A671-607FA428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BFA5A80-2FC1-4057-B7A8-FA60E00A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C1D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1D2"/>
                </a:solidFill>
                <a:latin typeface="Arial"/>
                <a:ea typeface="Arial"/>
                <a:cs typeface="Arial"/>
              </a:rPr>
              <a:t>BRDS CBT  •  Evidence snapshot: 05 Oct 2026  •  Planning estimates are directional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6BADA3D0-F886-4801-B193-81D5F5DF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25EA5A64-7A9C-4A50-9516-442AE758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0970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Local repo: PROGRESS_LOG.md, CODEX_TASK_PLAN.md, ANTIGRAVITY_TASK_PLAN.md, scripts/seed-exams.js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B2F8050D-CDEB-41DC-A0F5-1760E2CD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83320417-65B8-492B-8239-946D57D2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Local checks: npm test output (87/87); scratch/verify-chrome-browser.js (41/41); reports/phase5-browser-evidence.json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619EA689-23A5-4ED5-A379-4731E9C1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A5A31E63-162B-4EC8-B3B5-A8A11D41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PDF inventory: recursive file list, pdfinfo page counts, SHA-256 duplicate check; isolated SQLite seed audit (16 / 915)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8CCF070F-146E-4548-9602-FF39C875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BA36CD94-F72D-44CD-97E2-9090742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Roughworks: roughworks.in/papers/uceed • /papers/ceed • /papers/nid-ug • /papers/nift</a:t>
            </a:r>
          </a:p>
        </p:txBody>
      </p:sp>
      <p:sp>
        <p:nvSpPr>
          <p:cNvPr id="14" name="bullet-4">
            <a:extLst xmlns:a="http://schemas.openxmlformats.org/drawingml/2006/main">
              <a:ext uri="{FF2B5EF4-FFF2-40B4-BE49-F238E27FC236}">
                <a16:creationId xmlns:a16="http://schemas.microsoft.com/office/drawing/2014/main" id="{3FAADDE2-2D1D-43FC-8AFF-FC7AE781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5BDA3F62-E1EA-4EF0-BAF2-796A7F27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Roughworks: roughworks.in/syllabus/uceed • /syllabus/ceed • /exams</a:t>
            </a:r>
          </a:p>
        </p:txBody>
      </p:sp>
      <p:sp>
        <p:nvSpPr>
          <p:cNvPr id="16" name="bullet-5">
            <a:extLst xmlns:a="http://schemas.openxmlformats.org/drawingml/2006/main">
              <a:ext uri="{FF2B5EF4-FFF2-40B4-BE49-F238E27FC236}">
                <a16:creationId xmlns:a16="http://schemas.microsoft.com/office/drawing/2014/main" id="{007451E7-0D9B-4AA2-8E75-B6CB056C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5">
            <a:extLst xmlns:a="http://schemas.openxmlformats.org/drawingml/2006/main">
              <a:ext uri="{FF2B5EF4-FFF2-40B4-BE49-F238E27FC236}">
                <a16:creationId xmlns:a16="http://schemas.microsoft.com/office/drawing/2014/main" id="{395C733F-DD09-4A1B-9E1E-7F08FFA0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Roughworks: roughworks.in/gk • /drawings • /guides • /privacy • homepage event/dashboard</a:t>
            </a:r>
          </a:p>
        </p:txBody>
      </p:sp>
      <p:sp>
        <p:nvSpPr>
          <p:cNvPr id="18" name="bullet-6">
            <a:extLst xmlns:a="http://schemas.openxmlformats.org/drawingml/2006/main">
              <a:ext uri="{FF2B5EF4-FFF2-40B4-BE49-F238E27FC236}">
                <a16:creationId xmlns:a16="http://schemas.microsoft.com/office/drawing/2014/main" id="{D4625394-2DEA-48CF-93D3-EE455B92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9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text-6">
            <a:extLst xmlns:a="http://schemas.openxmlformats.org/drawingml/2006/main">
              <a:ext uri="{FF2B5EF4-FFF2-40B4-BE49-F238E27FC236}">
                <a16:creationId xmlns:a16="http://schemas.microsoft.com/office/drawing/2014/main" id="{3916D659-852C-4B94-8C94-40C12795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10153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Competitor figures are a dated public snapshot; local totals are configured fixtures only. Estimates and backlog priorities are recommendations.</a:t>
            </a:r>
          </a:p>
        </p:txBody>
      </p:sp>
      <p:sp>
        <p:nvSpPr>
          <p:cNvPr id="20" name="source-date">
            <a:extLst xmlns:a="http://schemas.openxmlformats.org/drawingml/2006/main">
              <a:ext uri="{FF2B5EF4-FFF2-40B4-BE49-F238E27FC236}">
                <a16:creationId xmlns:a16="http://schemas.microsoft.com/office/drawing/2014/main" id="{B1D8C709-BE5C-477F-8942-B41430B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D9C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3D9C3"/>
                </a:solidFill>
                <a:latin typeface="Arial"/>
                <a:ea typeface="Arial"/>
                <a:cs typeface="Arial"/>
              </a:rPr>
              <a:t>No user data, API keys, secret values or production credentials are included.</a:t>
            </a:r>
          </a:p>
        </p:txBody>
      </p:sp>
    </p:spTree>
    <p:extLst>
      <p:ext uri="{BB962C8B-B14F-4D97-AF65-F5344CB8AC3E}">
        <p14:creationId xmlns:p14="http://schemas.microsoft.com/office/powerpoint/2010/main" val="1335610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2026-10-05T18:31:56.7170000Z</dcterms:created>
  <dcterms:modified xsi:type="dcterms:W3CDTF">2026-10-05T18:31:56.7170000Z</dcterms:modified>
</coreProperties>
</file>