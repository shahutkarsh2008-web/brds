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5629907ab4822" /><Relationship Type="http://schemas.openxmlformats.org/officeDocument/2006/relationships/extended-properties" Target="/docProps/app.xml" Id="Rcc38133e1e2347f6" /><Relationship Type="http://schemas.openxmlformats.org/officeDocument/2006/relationships/officeDocument" Target="/ppt/presentation.xml" Id="R800f4d44644149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deb2015d04eb5"/>
  </p:sldMasterIdLst>
  <p:notesMasterIdLst>
    <p:notesMasterId xmlns:r="http://schemas.openxmlformats.org/officeDocument/2006/relationships" r:id="R6258bebf16fc4df1"/>
  </p:notesMasterIdLst>
  <p:sldIdLst>
    <p:sldId xmlns:r="http://schemas.openxmlformats.org/officeDocument/2006/relationships" id="256" r:id="R2bea662bf0c94f30"/>
    <p:sldId xmlns:r="http://schemas.openxmlformats.org/officeDocument/2006/relationships" id="257" r:id="R537187f7cf8441b4"/>
    <p:sldId xmlns:r="http://schemas.openxmlformats.org/officeDocument/2006/relationships" id="258" r:id="R75aaa8219c3048eb"/>
    <p:sldId xmlns:r="http://schemas.openxmlformats.org/officeDocument/2006/relationships" id="259" r:id="R4bbd8958f47d4a3e"/>
    <p:sldId xmlns:r="http://schemas.openxmlformats.org/officeDocument/2006/relationships" id="260" r:id="R528a0e157d3642be"/>
    <p:sldId xmlns:r="http://schemas.openxmlformats.org/officeDocument/2006/relationships" id="261" r:id="R630730dbc676416b"/>
    <p:sldId xmlns:r="http://schemas.openxmlformats.org/officeDocument/2006/relationships" id="262" r:id="R7df1d4941d124368"/>
    <p:sldId xmlns:r="http://schemas.openxmlformats.org/officeDocument/2006/relationships" id="263" r:id="R1167fbd3e6ab4c98"/>
    <p:sldId xmlns:r="http://schemas.openxmlformats.org/officeDocument/2006/relationships" id="264" r:id="R793ab446e28b49e2"/>
    <p:sldId xmlns:r="http://schemas.openxmlformats.org/officeDocument/2006/relationships" id="265" r:id="Rd34f671039b340f6"/>
    <p:sldId xmlns:r="http://schemas.openxmlformats.org/officeDocument/2006/relationships" id="266" r:id="Rb441b6b45db44f59"/>
    <p:sldId xmlns:r="http://schemas.openxmlformats.org/officeDocument/2006/relationships" id="267" r:id="R79e884608990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a0348b3e84e4a" /><Relationship Type="http://schemas.openxmlformats.org/officeDocument/2006/relationships/slideMaster" Target="/ppt/slideMasters/slideMaster1.xml" Id="Re4bdeb2015d04eb5" /><Relationship Type="http://schemas.openxmlformats.org/officeDocument/2006/relationships/notesMaster" Target="/ppt/notesMasters/notesMaster1.xml" Id="R6258bebf16fc4df1" /><Relationship Type="http://schemas.openxmlformats.org/officeDocument/2006/relationships/presProps" Target="/ppt/presProps.xml" Id="R902647d34afe466c" /><Relationship Type="http://schemas.openxmlformats.org/officeDocument/2006/relationships/tableStyles" Target="/ppt/tableStyles.xml" Id="R6d9c055194cb4040" /><Relationship Type="http://schemas.openxmlformats.org/officeDocument/2006/relationships/slide" Target="/ppt/slides/slide1.xml" Id="R2bea662bf0c94f30" /><Relationship Type="http://schemas.openxmlformats.org/officeDocument/2006/relationships/slide" Target="/ppt/slides/slide2.xml" Id="R537187f7cf8441b4" /><Relationship Type="http://schemas.openxmlformats.org/officeDocument/2006/relationships/slide" Target="/ppt/slides/slide3.xml" Id="R75aaa8219c3048eb" /><Relationship Type="http://schemas.openxmlformats.org/officeDocument/2006/relationships/slide" Target="/ppt/slides/slide4.xml" Id="R4bbd8958f47d4a3e" /><Relationship Type="http://schemas.openxmlformats.org/officeDocument/2006/relationships/slide" Target="/ppt/slides/slide5.xml" Id="R528a0e157d3642be" /><Relationship Type="http://schemas.openxmlformats.org/officeDocument/2006/relationships/slide" Target="/ppt/slides/slide6.xml" Id="R630730dbc676416b" /><Relationship Type="http://schemas.openxmlformats.org/officeDocument/2006/relationships/slide" Target="/ppt/slides/slide7.xml" Id="R7df1d4941d124368" /><Relationship Type="http://schemas.openxmlformats.org/officeDocument/2006/relationships/slide" Target="/ppt/slides/slide8.xml" Id="R1167fbd3e6ab4c98" /><Relationship Type="http://schemas.openxmlformats.org/officeDocument/2006/relationships/slide" Target="/ppt/slides/slide9.xml" Id="R793ab446e28b49e2" /><Relationship Type="http://schemas.openxmlformats.org/officeDocument/2006/relationships/slide" Target="/ppt/slides/slide10.xml" Id="Rd34f671039b340f6" /><Relationship Type="http://schemas.openxmlformats.org/officeDocument/2006/relationships/slide" Target="/ppt/slides/slide11.xml" Id="Rb441b6b45db44f59" /><Relationship Type="http://schemas.openxmlformats.org/officeDocument/2006/relationships/slide" Target="/ppt/slides/slide12.xml" Id="R79e884608990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ad21ffc4e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53fdafb5648d6" /><Relationship Type="http://schemas.openxmlformats.org/officeDocument/2006/relationships/notesMaster" Target="/ppt/notesMasters/notesMaster1.xml" Id="Rfa71a0899d25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91f3aa84e44346" /><Relationship Type="http://schemas.openxmlformats.org/officeDocument/2006/relationships/notesMaster" Target="/ppt/notesMasters/notesMaster1.xml" Id="R99e9d5e05d514d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8d6539597a4baf" /><Relationship Type="http://schemas.openxmlformats.org/officeDocument/2006/relationships/notesMaster" Target="/ppt/notesMasters/notesMaster1.xml" Id="R699b4045e5f647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14c419d629465e" /><Relationship Type="http://schemas.openxmlformats.org/officeDocument/2006/relationships/notesMaster" Target="/ppt/notesMasters/notesMaster1.xml" Id="R2730669d7a49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d0b71fffe94472" /><Relationship Type="http://schemas.openxmlformats.org/officeDocument/2006/relationships/notesMaster" Target="/ppt/notesMasters/notesMaster1.xml" Id="R618934207b4d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08109c14b746d9" /><Relationship Type="http://schemas.openxmlformats.org/officeDocument/2006/relationships/notesMaster" Target="/ppt/notesMasters/notesMaster1.xml" Id="R64d68458bdb1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29e92fedeb4ffb" /><Relationship Type="http://schemas.openxmlformats.org/officeDocument/2006/relationships/notesMaster" Target="/ppt/notesMasters/notesMaster1.xml" Id="R1f60a704a80346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1461d7567a41a7" /><Relationship Type="http://schemas.openxmlformats.org/officeDocument/2006/relationships/notesMaster" Target="/ppt/notesMasters/notesMaster1.xml" Id="R6cb4aeea097642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b0afcabbcb4425" /><Relationship Type="http://schemas.openxmlformats.org/officeDocument/2006/relationships/notesMaster" Target="/ppt/notesMasters/notesMaster1.xml" Id="R619d6b0486c04f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01f000dd18431f" /><Relationship Type="http://schemas.openxmlformats.org/officeDocument/2006/relationships/notesMaster" Target="/ppt/notesMasters/notesMaster1.xml" Id="Rd0d8f8eddd684f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1477079dd24ea1" /><Relationship Type="http://schemas.openxmlformats.org/officeDocument/2006/relationships/notesMaster" Target="/ppt/notesMasters/notesMaster1.xml" Id="R565f126c966d44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b08ee4e7834836" /><Relationship Type="http://schemas.openxmlformats.org/officeDocument/2006/relationships/notesMaster" Target="/ppt/notesMasters/notesMaster1.xml" Id="Rbcd69b9fe0e24b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local repository evidence and public Roughworks pages reviewed 05 Oct 2026. This is an engineering/product backlog, not a claim of hosted production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verification run during this audit: npm test passed 87/87. node scratch/verify-chrome-browser.js passed 41 scenarios on Microsoft Edge 154: 10 tabs at widths 1440, 1024, 768, and 360 CSS pixels, no horizontal overflow. Phase5 evidence also records a complete scored-paper loop and zero browser console/5xx errors. Isolated local runs do not certify a public host, live SMS, real database or production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old roadmap has a Phase 8, but it is not part of the current five-phase plan. Treat hosted deployment and live provider setup as separate operational launch gates after the five planned development phases. The current workspace had no production URL supplied; secret values were not read or placed in this deck. Verify deployment readiness separately after current-plan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commands: recursive Get-ChildItem inventory yielded 56 PDFs: 26 UCEED (including spatial worksheet/key), 23 CEED (question papers 2010–25 with 2016 split in two, six answer-key PDFs for 2020–25), six NIFT CAT/GAT papers (2016–18), one unclassified media_1790718535711.pdf. pdfinfo captured page counts; SHA-256 grouping found no exact duplicate. Isolated SQLite seeding imported 16 configured fixtures idempotently; definitions contain 915 total questions, including 698 official UCEED questions from 2017–26. UCEED 2015/16 have 100/80 question counts on Roughworks benchmark = 180 missing. Do not treat documents as imported just because present on disk. Verify transcription, diagrams, answer key, marking scheme, source permissions and attribution before scored launch. Public benchmark references: https://roughworks.in/papers/uceed and https://roughworks.in/papers/ceed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fixture/seed audit: scripts/seed-exams.js lists 16 fixtures;ten official UCEED papers are present (2017–26), including a 2025 Part A fixture, with 698 questions total. Roughworks current public benchmark pages: https://roughworks.in/papers/uceed (12, 878); https://roughworks.in/papers/ceed (9, 382); https://roughworks.in/papers/nid-ug (2, 29); https://roughworks.in/papers/nift (3 papers, 300, confirmed https://roughworks.in/). Dates are a snapshot, not a permanent competitor claim. Local seeded practice sets and mini mock are excluded from PYQ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evidence: npm test contains assignment/security/answer-key tests, practice topic/skip-done/bookmark tests, saved-set and attempt recovery paths. Competitor benchmark emphasizes free/no-login paper access, live scoring/progress save and topic-by-year links: https://roughworks.in/papers/uceed and https://roughworks.in/syllabus/uceed. Roadmap recommendation is an inference from that observed feature set and this repository's current configured seed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current feature claims are verified in test/student-features.test.js and test/workspace-v2-phase4.test.js: per-account GK review, private sketch CRUD and quiz scores. Public Roughworks benchmark: https://roughworks.in/gk (five public questions/day, 660+ bank, flashcards and Wrong Box); https://roughworks.in/drawings (121 prompts), example rubric https://roughworks.in/drawings/uceed-2026-sketching. Public user-uploaded artwork requires consent, moderation, deletion, abuse reporting and privacy review; benchmark privacy model: https://roughworks.in/privacy. These are feature gaps inferred from competitor pages vs locally verified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Roughworks homepage describes streaks, mastery, mock history and an AI-surfaced next action: https://roughworks.in/. Its public guides currently list eight pieces: https://roughworks.in/guides. Privacy page explains optional OAuth, account activity, deletion request, opt-in community sketches and vendors: https://roughworks.in/privacy. Proposed parity requirements are recommendations based on public observations; review applicable laws and institutional policy with the product owner before collection/payment/community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Snapshot from https://roughworks.in/ reviewed 05 Oct 2026 advertises a dated 2027 all-India mock with limited seats, ₹99, timed Part A+B, rank/analysis, human-evaluated Part B. This can change after the event date. Suggested payment, refund and review workflows are inferred requirements if BRDS chooses to compete in paid mocks; do not implement or collect payment without business, provider and legal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Priorities and effort estimates are planning judgments, not researched facts or committed deadlines. Biggest measurable bank gaps on the evidence snapshot: UCEED 180 questions; CEED 382; NID 29; NIFT 300. UCEED/CEED/NIFT have local source PDFs but permissions, question transcription and QA remain; no NID PDF was found in the 56-file local inventory. Content should be sourced under appropriate rights with attribution. Current competitor figures: https://roughworks.in/papers/uceed, https://roughworks.in/papers/ceed, https://roughworks.in/papers/nid-ug, https://roughworks.in/papers/nift.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reference checks: `npm test` = 87 pass / 0 fail; `node scratch/verify-chrome-browser.js` = 41/41. The old roadmap's Phase 8 is outside the current five-phase plan. Local QA can begin now; hosted production still requires a deployment target and authorized provider setup as separate operational release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URLs reviewed 05 Oct 2026: https://roughworks.in/; https://roughworks.in/exams; https://roughworks.in/papers/uceed; https://roughworks.in/papers/ceed; https://roughworks.in/papers/nid-ug; https://roughworks.in/papers/nift; https://roughworks.in/syllabus/uceed; https://roughworks.in/syllabus/ceed; https://roughworks.in/gk; https://roughworks.in/drawings; https://roughworks.in/drawings/uceed-2026-sketching; https://roughworks.in/guides; https://roughworks.in/privacy. Local evidence: PROGRESS_LOG.md; CODEX_TASK_PLAN.md; scripts/seed-exams.js; test/*.test.js; reports/phase5-browser-evidence.json. Facts may change as Roughworks updates the site. No confidential local values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221d0b844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7dc6e7773445e1" /><Relationship Type="http://schemas.openxmlformats.org/officeDocument/2006/relationships/slideLayout" Target="/ppt/slideLayouts/slideLayout1.xml" Id="R40dbd8f008f3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bd8f008f3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15c945554579" /><Relationship Type="http://schemas.openxmlformats.org/officeDocument/2006/relationships/notesSlide" Target="/ppt/notesSlides/notesSlide1.xml" Id="Ra31e0961785b4d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ab7736c7e47e4" /><Relationship Type="http://schemas.openxmlformats.org/officeDocument/2006/relationships/notesSlide" Target="/ppt/notesSlides/notesSlide2.xml" Id="Reb9a46a62a1843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b7c86016415b" /><Relationship Type="http://schemas.openxmlformats.org/officeDocument/2006/relationships/notesSlide" Target="/ppt/notesSlides/notesSlide3.xml" Id="Rdd8337a53f92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d3f66d2a84262" /><Relationship Type="http://schemas.openxmlformats.org/officeDocument/2006/relationships/notesSlide" Target="/ppt/notesSlides/notesSlide4.xml" Id="R797ace3b6b144f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cb23db9ae4bd8" /><Relationship Type="http://schemas.openxmlformats.org/officeDocument/2006/relationships/notesSlide" Target="/ppt/notesSlides/notesSlide5.xml" Id="Rae1ab6316186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853df01b44942" /><Relationship Type="http://schemas.openxmlformats.org/officeDocument/2006/relationships/notesSlide" Target="/ppt/notesSlides/notesSlide6.xml" Id="Rb35e7cef2b894d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6ab91f2fb4ed8" /><Relationship Type="http://schemas.openxmlformats.org/officeDocument/2006/relationships/notesSlide" Target="/ppt/notesSlides/notesSlide7.xml" Id="R38bf032f9ff542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e55b5d21440ce" /><Relationship Type="http://schemas.openxmlformats.org/officeDocument/2006/relationships/notesSlide" Target="/ppt/notesSlides/notesSlide8.xml" Id="Rba7ea7a5b9a242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a11a203c14f10" /><Relationship Type="http://schemas.openxmlformats.org/officeDocument/2006/relationships/notesSlide" Target="/ppt/notesSlides/notesSlide9.xml" Id="R171d1e70170545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c2cefbb246d8" /><Relationship Type="http://schemas.openxmlformats.org/officeDocument/2006/relationships/notesSlide" Target="/ppt/notesSlides/notesSlide10.xml" Id="R97a27ad94a224b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41656318a441d" /><Relationship Type="http://schemas.openxmlformats.org/officeDocument/2006/relationships/notesSlide" Target="/ppt/notesSlides/notesSlide11.xml" Id="R4c8359d106aa4b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0bc9aee144b92" /><Relationship Type="http://schemas.openxmlformats.org/officeDocument/2006/relationships/notesSlide" Target="/ppt/notesSlides/notesSlide12.xml" Id="Rd0b8de032f4b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B51B76-F875-4DF8-B48E-7897838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8C7220-C4D3-433F-8DE2-9C768D2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&amp; COMPETITIVE READINESS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BD2F7C-5FD4-4214-BA1B-61764D1B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28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 gate → testing plan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3C1AF18-2683-429C-BDEA-8A2D5D0D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CBT: verified today, remaining work to compete with Roughworks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5C83E40B-DFBB-419C-A520-C439690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32981DC4-50ED-4373-8FBE-3EF829FC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Evidence reviewed: 05 October 2026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81D9CBB8-653A-45E0-85AD-09595F1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Local code is ready for structured QA. Hosted production acceptance still needs its own gate.</a:t>
            </a:r>
          </a:p>
        </p:txBody>
      </p:sp>
    </p:spTree>
    <p:extLst>
      <p:ext uri="{BB962C8B-B14F-4D97-AF65-F5344CB8AC3E}">
        <p14:creationId xmlns:p14="http://schemas.microsoft.com/office/powerpoint/2010/main" val="252273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">
            <a:extLst xmlns:a="http://schemas.openxmlformats.org/drawingml/2006/main">
              <a:ext uri="{FF2B5EF4-FFF2-40B4-BE49-F238E27FC236}">
                <a16:creationId xmlns:a16="http://schemas.microsoft.com/office/drawing/2014/main" id="{117BF445-D041-4D71-98E9-BC46EDBC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45F0D75-97E8-4457-B8F7-7EC0EB6C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FCF7A3-3C3B-4E4E-B136-E4766D03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Final debug: local checkpoint is green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A5DAE1B-763A-429C-A403-E7187D5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E0B8E42-B692-4F05-863F-B596118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metric-value-automated tests">
            <a:extLst xmlns:a="http://schemas.openxmlformats.org/drawingml/2006/main">
              <a:ext uri="{FF2B5EF4-FFF2-40B4-BE49-F238E27FC236}">
                <a16:creationId xmlns:a16="http://schemas.microsoft.com/office/drawing/2014/main" id="{67DB69F6-4A69-44C1-A8C4-FEEC8121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87/87</a:t>
            </a:r>
          </a:p>
        </p:txBody>
      </p:sp>
      <p:sp>
        <p:nvSpPr>
          <p:cNvPr id="7" name="metric-label-automated tests">
            <a:extLst xmlns:a="http://schemas.openxmlformats.org/drawingml/2006/main">
              <a:ext uri="{FF2B5EF4-FFF2-40B4-BE49-F238E27FC236}">
                <a16:creationId xmlns:a16="http://schemas.microsoft.com/office/drawing/2014/main" id="{37C3950A-2A4C-4904-AE82-5F3F730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8" name="metric-value-real Edge scenarios">
            <a:extLst xmlns:a="http://schemas.openxmlformats.org/drawingml/2006/main">
              <a:ext uri="{FF2B5EF4-FFF2-40B4-BE49-F238E27FC236}">
                <a16:creationId xmlns:a16="http://schemas.microsoft.com/office/drawing/2014/main" id="{BD834CCB-118B-4087-B602-DE031EC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41/41</a:t>
            </a:r>
          </a:p>
        </p:txBody>
      </p:sp>
      <p:sp>
        <p:nvSpPr>
          <p:cNvPr id="9" name="metric-label-real Edge scenarios">
            <a:extLst xmlns:a="http://schemas.openxmlformats.org/drawingml/2006/main">
              <a:ext uri="{FF2B5EF4-FFF2-40B4-BE49-F238E27FC236}">
                <a16:creationId xmlns:a16="http://schemas.microsoft.com/office/drawing/2014/main" id="{9E135925-99E0-4312-A69B-1D96581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real Edge scenarios</a:t>
            </a:r>
          </a:p>
        </p:txBody>
      </p:sp>
      <p:sp>
        <p:nvSpPr>
          <p:cNvPr id="10" name="metric-value-tabs × viewports">
            <a:extLst xmlns:a="http://schemas.openxmlformats.org/drawingml/2006/main">
              <a:ext uri="{FF2B5EF4-FFF2-40B4-BE49-F238E27FC236}">
                <a16:creationId xmlns:a16="http://schemas.microsoft.com/office/drawing/2014/main" id="{3274E0D2-AC47-456A-8870-E6C2B8C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10 × 4</a:t>
            </a:r>
          </a:p>
        </p:txBody>
      </p:sp>
      <p:sp>
        <p:nvSpPr>
          <p:cNvPr id="11" name="metric-label-tabs × viewports">
            <a:extLst xmlns:a="http://schemas.openxmlformats.org/drawingml/2006/main">
              <a:ext uri="{FF2B5EF4-FFF2-40B4-BE49-F238E27FC236}">
                <a16:creationId xmlns:a16="http://schemas.microsoft.com/office/drawing/2014/main" id="{CA4DD6E0-C0CE-4078-A52C-0A6EC118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tabs × viewports</a:t>
            </a:r>
          </a:p>
        </p:txBody>
      </p:sp>
      <p:sp>
        <p:nvSpPr>
          <p:cNvPr id="12" name="metric-value-horizontal overflow">
            <a:extLst xmlns:a="http://schemas.openxmlformats.org/drawingml/2006/main">
              <a:ext uri="{FF2B5EF4-FFF2-40B4-BE49-F238E27FC236}">
                <a16:creationId xmlns:a16="http://schemas.microsoft.com/office/drawing/2014/main" id="{C95E4F31-2333-4993-8860-A18FCCA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metric-label-horizontal overflow">
            <a:extLst xmlns:a="http://schemas.openxmlformats.org/drawingml/2006/main">
              <a:ext uri="{FF2B5EF4-FFF2-40B4-BE49-F238E27FC236}">
                <a16:creationId xmlns:a16="http://schemas.microsoft.com/office/drawing/2014/main" id="{7012D3DF-EC04-4AC7-995E-5DB12CB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horizontal overflow</a:t>
            </a:r>
          </a:p>
        </p:txBody>
      </p:sp>
      <p:sp>
        <p:nvSpPr>
          <p:cNvPr id="14" name="card-Coverage verified">
            <a:extLst xmlns:a="http://schemas.openxmlformats.org/drawingml/2006/main">
              <a:ext uri="{FF2B5EF4-FFF2-40B4-BE49-F238E27FC236}">
                <a16:creationId xmlns:a16="http://schemas.microsoft.com/office/drawing/2014/main" id="{83E5D960-707C-4B00-91B9-1DF48EA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1054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5" name="card-title-Coverage verified">
            <a:extLst xmlns:a="http://schemas.openxmlformats.org/drawingml/2006/main">
              <a:ext uri="{FF2B5EF4-FFF2-40B4-BE49-F238E27FC236}">
                <a16:creationId xmlns:a16="http://schemas.microsoft.com/office/drawing/2014/main" id="{219B9DFB-8F43-4596-9ECF-7742A74B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Coverage verified</a:t>
            </a:r>
          </a:p>
        </p:txBody>
      </p:sp>
      <p:sp>
        <p:nvSpPr>
          <p:cNvPr id="16" name="card-Coverage verified-line-0">
            <a:extLst xmlns:a="http://schemas.openxmlformats.org/drawingml/2006/main">
              <a:ext uri="{FF2B5EF4-FFF2-40B4-BE49-F238E27FC236}">
                <a16:creationId xmlns:a16="http://schemas.microsoft.com/office/drawing/2014/main" id="{820EAB5F-951D-48B1-8193-7E88199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Library → Exam → Result → Analytics</a:t>
            </a:r>
          </a:p>
        </p:txBody>
      </p:sp>
      <p:sp>
        <p:nvSpPr>
          <p:cNvPr id="17" name="card-Coverage verified-line-1">
            <a:extLst xmlns:a="http://schemas.openxmlformats.org/drawingml/2006/main">
              <a:ext uri="{FF2B5EF4-FFF2-40B4-BE49-F238E27FC236}">
                <a16:creationId xmlns:a16="http://schemas.microsoft.com/office/drawing/2014/main" id="{685AA160-04EE-4248-8D95-439FAEE0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Auth, assignment and answer-key privacy</a:t>
            </a:r>
          </a:p>
        </p:txBody>
      </p:sp>
      <p:sp>
        <p:nvSpPr>
          <p:cNvPr id="18" name="card-Coverage verified-line-2">
            <a:extLst xmlns:a="http://schemas.openxmlformats.org/drawingml/2006/main">
              <a:ext uri="{FF2B5EF4-FFF2-40B4-BE49-F238E27FC236}">
                <a16:creationId xmlns:a16="http://schemas.microsoft.com/office/drawing/2014/main" id="{E81C3980-9C5B-4D98-BB53-49D0B4C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Practice/bookmarks/revision + Phase 4 flows</a:t>
            </a:r>
          </a:p>
        </p:txBody>
      </p:sp>
      <p:sp>
        <p:nvSpPr>
          <p:cNvPr id="19" name="card-Coverage verified-line-3">
            <a:extLst xmlns:a="http://schemas.openxmlformats.org/drawingml/2006/main">
              <a:ext uri="{FF2B5EF4-FFF2-40B4-BE49-F238E27FC236}">
                <a16:creationId xmlns:a16="http://schemas.microsoft.com/office/drawing/2014/main" id="{3D9482D9-9C6E-4AC6-982B-90AD430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Isolated load simulation; no hosted target</a:t>
            </a:r>
          </a:p>
        </p:txBody>
      </p:sp>
      <p:sp>
        <p:nvSpPr>
          <p:cNvPr id="20" name="card-Start testing now">
            <a:extLst xmlns:a="http://schemas.openxmlformats.org/drawingml/2006/main">
              <a:ext uri="{FF2B5EF4-FFF2-40B4-BE49-F238E27FC236}">
                <a16:creationId xmlns:a16="http://schemas.microsoft.com/office/drawing/2014/main" id="{3916A1CD-839B-4F03-A355-3883743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51054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21" name="card-title-Start testing now">
            <a:extLst xmlns:a="http://schemas.openxmlformats.org/drawingml/2006/main">
              <a:ext uri="{FF2B5EF4-FFF2-40B4-BE49-F238E27FC236}">
                <a16:creationId xmlns:a16="http://schemas.microsoft.com/office/drawing/2014/main" id="{B10018DD-29D4-44FA-A7AE-075D986C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Start testing now</a:t>
            </a:r>
          </a:p>
        </p:txBody>
      </p:sp>
      <p:sp>
        <p:nvSpPr>
          <p:cNvPr id="22" name="card-Start testing now-line-0">
            <a:extLst xmlns:a="http://schemas.openxmlformats.org/drawingml/2006/main">
              <a:ext uri="{FF2B5EF4-FFF2-40B4-BE49-F238E27FC236}">
                <a16:creationId xmlns:a16="http://schemas.microsoft.com/office/drawing/2014/main" id="{B4A9ED28-851C-4E76-BC48-453ED96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Begin structured local QA immediately</a:t>
            </a:r>
          </a:p>
        </p:txBody>
      </p:sp>
      <p:sp>
        <p:nvSpPr>
          <p:cNvPr id="23" name="card-Start testing now-line-1">
            <a:extLst xmlns:a="http://schemas.openxmlformats.org/drawingml/2006/main">
              <a:ext uri="{FF2B5EF4-FFF2-40B4-BE49-F238E27FC236}">
                <a16:creationId xmlns:a16="http://schemas.microsoft.com/office/drawing/2014/main" id="{ABF74879-6F19-4B67-B0A6-68A33EE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Track defects by route, severity and evidence</a:t>
            </a:r>
          </a:p>
        </p:txBody>
      </p:sp>
      <p:sp>
        <p:nvSpPr>
          <p:cNvPr id="24" name="card-Start testing now-line-2">
            <a:extLst xmlns:a="http://schemas.openxmlformats.org/drawingml/2006/main">
              <a:ext uri="{FF2B5EF4-FFF2-40B4-BE49-F238E27FC236}">
                <a16:creationId xmlns:a16="http://schemas.microsoft.com/office/drawing/2014/main" id="{EF22E524-2DCA-4F86-A36A-EF9A6A9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Keep local code pass separate from launch sign-off</a:t>
            </a:r>
          </a:p>
        </p:txBody>
      </p:sp>
      <p:sp>
        <p:nvSpPr>
          <p:cNvPr id="25" name="card-Start testing now-line-3">
            <a:extLst xmlns:a="http://schemas.openxmlformats.org/drawingml/2006/main">
              <a:ext uri="{FF2B5EF4-FFF2-40B4-BE49-F238E27FC236}">
                <a16:creationId xmlns:a16="http://schemas.microsoft.com/office/drawing/2014/main" id="{15C69D7B-C5ED-4C4C-B5FB-35D1F27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Browser pass ≠ real-user or production acceptance</a:t>
            </a:r>
          </a:p>
        </p:txBody>
      </p:sp>
      <p:sp>
        <p:nvSpPr>
          <p:cNvPr id="26" name="evidence-paths">
            <a:extLst xmlns:a="http://schemas.openxmlformats.org/drawingml/2006/main">
              <a:ext uri="{FF2B5EF4-FFF2-40B4-BE49-F238E27FC236}">
                <a16:creationId xmlns:a16="http://schemas.microsoft.com/office/drawing/2014/main" id="{2E11DBA5-7F63-44CD-8A25-59E84C7C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Evidence: npm test 87/87 • scratch/verify-chrome-browser.js 41/41 • reports/phase5-browser-evidence.json</a:t>
            </a:r>
          </a:p>
        </p:txBody>
      </p:sp>
    </p:spTree>
    <p:extLst>
      <p:ext uri="{BB962C8B-B14F-4D97-AF65-F5344CB8AC3E}">
        <p14:creationId xmlns:p14="http://schemas.microsoft.com/office/powerpoint/2010/main" val="2043166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1A0AF551-6B5B-4646-A183-F084B86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868EA6E-7EBA-46F6-9A39-1FA4810E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798BF-8BE9-4220-8C00-AD40BBBD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 is not yet a verified release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B248884-358B-4A6A-A6B6-3B5C6E8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55CCAD1-2940-4B71-B284-7F8AC271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status-pill">
            <a:extLst xmlns:a="http://schemas.openxmlformats.org/drawingml/2006/main">
              <a:ext uri="{FF2B5EF4-FFF2-40B4-BE49-F238E27FC236}">
                <a16:creationId xmlns:a16="http://schemas.microsoft.com/office/drawing/2014/main" id="{B0F94E64-ED26-4020-A755-3483F4F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CODE: LOCALLY TESTABLE     HOSTED ACCEPTANCE: OPEN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4D194C7D-2046-49E9-B918-84361232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ABD75EA-CC0C-48DC-BBD1-4B90D76A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production URL / deployed target was available for a current health, TLS, cookie, CSP or database check.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FC54CF4-0D61-4D2A-A42C-88E2746B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6AED26F-9780-4AF3-BFD5-B67399F1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Live provider credentials and hosted acceptance are operational launch gates outside the current five-phase development plan.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FAE508BA-D6FD-4573-A1D5-E0DA7EEC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E8D5220-FBA2-41D6-9A64-F872AC8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Before launch: verify backup + restore, migrations, monitoring/alerts, rate limits, secrets rotation, privacy/delete flow and rollback.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1B94CA07-C185-40DC-94EC-0BD28EC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E976ECE-5B84-4397-A1AD-5C6CB0F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Run concurrency/load tests against the production database tier and documented target traffic; current checks are isolated simulations.</a:t>
            </a:r>
          </a:p>
        </p:txBody>
      </p:sp>
      <p:sp>
        <p:nvSpPr>
          <p:cNvPr id="15" name="honesty-note">
            <a:extLst xmlns:a="http://schemas.openxmlformats.org/drawingml/2006/main">
              <a:ext uri="{FF2B5EF4-FFF2-40B4-BE49-F238E27FC236}">
                <a16:creationId xmlns:a16="http://schemas.microsoft.com/office/drawing/2014/main" id="{EA3DF145-9909-421C-AB6A-44F70E91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Decision: start QA now; do not label production launch complete until hosted checks pass.</a:t>
            </a:r>
          </a:p>
        </p:txBody>
      </p:sp>
    </p:spTree>
    <p:extLst>
      <p:ext uri="{BB962C8B-B14F-4D97-AF65-F5344CB8AC3E}">
        <p14:creationId xmlns:p14="http://schemas.microsoft.com/office/powerpoint/2010/main" val="1065616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">
            <a:extLst xmlns:a="http://schemas.openxmlformats.org/drawingml/2006/main">
              <a:ext uri="{FF2B5EF4-FFF2-40B4-BE49-F238E27FC236}">
                <a16:creationId xmlns:a16="http://schemas.microsoft.com/office/drawing/2014/main" id="{5C056073-8E20-478A-9142-EF87F9F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55F2328-C49F-4F13-9B3E-E87BF12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4D02CE-5DF9-41E0-BC30-4ECF3CDC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Supplied PDFs: inventory complete, import is partial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9463039-0272-44E4-9EFE-DE8EB9C3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1C70C4-3556-46E1-9A4C-C129BB39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metric-value-PDF files">
            <a:extLst xmlns:a="http://schemas.openxmlformats.org/drawingml/2006/main">
              <a:ext uri="{FF2B5EF4-FFF2-40B4-BE49-F238E27FC236}">
                <a16:creationId xmlns:a16="http://schemas.microsoft.com/office/drawing/2014/main" id="{A928F6C8-8CCE-484B-8AC2-302EFC8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7" name="metric-label-PDF files">
            <a:extLst xmlns:a="http://schemas.openxmlformats.org/drawingml/2006/main">
              <a:ext uri="{FF2B5EF4-FFF2-40B4-BE49-F238E27FC236}">
                <a16:creationId xmlns:a16="http://schemas.microsoft.com/office/drawing/2014/main" id="{DAEFE07C-E3CC-477F-BC78-E59159A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PDF files</a:t>
            </a:r>
          </a:p>
        </p:txBody>
      </p:sp>
      <p:sp>
        <p:nvSpPr>
          <p:cNvPr id="8" name="metric-value-UCEED files">
            <a:extLst xmlns:a="http://schemas.openxmlformats.org/drawingml/2006/main">
              <a:ext uri="{FF2B5EF4-FFF2-40B4-BE49-F238E27FC236}">
                <a16:creationId xmlns:a16="http://schemas.microsoft.com/office/drawing/2014/main" id="{EFF1977B-6085-4701-8DF9-3176FEFF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9" name="metric-label-UCEED files">
            <a:extLst xmlns:a="http://schemas.openxmlformats.org/drawingml/2006/main">
              <a:ext uri="{FF2B5EF4-FFF2-40B4-BE49-F238E27FC236}">
                <a16:creationId xmlns:a16="http://schemas.microsoft.com/office/drawing/2014/main" id="{8AF83FAD-8191-4AE3-958A-1DC8FD70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UCEED files</a:t>
            </a:r>
          </a:p>
        </p:txBody>
      </p:sp>
      <p:sp>
        <p:nvSpPr>
          <p:cNvPr id="10" name="metric-value-CEED files">
            <a:extLst xmlns:a="http://schemas.openxmlformats.org/drawingml/2006/main">
              <a:ext uri="{FF2B5EF4-FFF2-40B4-BE49-F238E27FC236}">
                <a16:creationId xmlns:a16="http://schemas.microsoft.com/office/drawing/2014/main" id="{49CAB1F3-C6DE-4F5C-96BD-E4539A20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1" name="metric-label-CEED files">
            <a:extLst xmlns:a="http://schemas.openxmlformats.org/drawingml/2006/main">
              <a:ext uri="{FF2B5EF4-FFF2-40B4-BE49-F238E27FC236}">
                <a16:creationId xmlns:a16="http://schemas.microsoft.com/office/drawing/2014/main" id="{DA784597-7996-485C-BF4B-F33C2F0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CEED files</a:t>
            </a:r>
          </a:p>
        </p:txBody>
      </p:sp>
      <p:sp>
        <p:nvSpPr>
          <p:cNvPr id="12" name="metric-value-NIFT CAT/GAT">
            <a:extLst xmlns:a="http://schemas.openxmlformats.org/drawingml/2006/main">
              <a:ext uri="{FF2B5EF4-FFF2-40B4-BE49-F238E27FC236}">
                <a16:creationId xmlns:a16="http://schemas.microsoft.com/office/drawing/2014/main" id="{5AEC8DE9-082A-4EAA-8E3D-F65E5FB2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metric-label-NIFT CAT/GAT">
            <a:extLst xmlns:a="http://schemas.openxmlformats.org/drawingml/2006/main">
              <a:ext uri="{FF2B5EF4-FFF2-40B4-BE49-F238E27FC236}">
                <a16:creationId xmlns:a16="http://schemas.microsoft.com/office/drawing/2014/main" id="{8A84FB41-12B4-455A-82ED-991C1A8E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NIFT CAT/GAT</a:t>
            </a:r>
          </a:p>
        </p:txBody>
      </p:sp>
      <p:sp>
        <p:nvSpPr>
          <p:cNvPr id="14" name="metric-value-unclassified PDF">
            <a:extLst xmlns:a="http://schemas.openxmlformats.org/drawingml/2006/main">
              <a:ext uri="{FF2B5EF4-FFF2-40B4-BE49-F238E27FC236}">
                <a16:creationId xmlns:a16="http://schemas.microsoft.com/office/drawing/2014/main" id="{5B0BA3F6-7EB2-4E30-94DF-6DE395B5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metric-label-unclassified PDF">
            <a:extLst xmlns:a="http://schemas.openxmlformats.org/drawingml/2006/main">
              <a:ext uri="{FF2B5EF4-FFF2-40B4-BE49-F238E27FC236}">
                <a16:creationId xmlns:a16="http://schemas.microsoft.com/office/drawing/2014/main" id="{E3F1073A-929A-41D0-A4EB-01221B84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unclassified PDF</a:t>
            </a:r>
          </a:p>
        </p:txBody>
      </p:sp>
      <p:sp>
        <p:nvSpPr>
          <p:cNvPr id="16" name="card-Imported locally">
            <a:extLst xmlns:a="http://schemas.openxmlformats.org/drawingml/2006/main">
              <a:ext uri="{FF2B5EF4-FFF2-40B4-BE49-F238E27FC236}">
                <a16:creationId xmlns:a16="http://schemas.microsoft.com/office/drawing/2014/main" id="{A2CA4C41-D1D8-4174-AF96-0FDC1CCA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105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7" name="card-title-Imported locally">
            <a:extLst xmlns:a="http://schemas.openxmlformats.org/drawingml/2006/main">
              <a:ext uri="{FF2B5EF4-FFF2-40B4-BE49-F238E27FC236}">
                <a16:creationId xmlns:a16="http://schemas.microsoft.com/office/drawing/2014/main" id="{E59E1A43-6D7F-4DBD-8612-B2A8E62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Imported locally</a:t>
            </a:r>
          </a:p>
        </p:txBody>
      </p:sp>
      <p:sp>
        <p:nvSpPr>
          <p:cNvPr id="18" name="card-Imported locally-line-0">
            <a:extLst xmlns:a="http://schemas.openxmlformats.org/drawingml/2006/main">
              <a:ext uri="{FF2B5EF4-FFF2-40B4-BE49-F238E27FC236}">
                <a16:creationId xmlns:a16="http://schemas.microsoft.com/office/drawing/2014/main" id="{41F3F0CE-3D38-4730-B1AD-B702AF2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16 seeded exams / practice sets</a:t>
            </a:r>
          </a:p>
        </p:txBody>
      </p:sp>
      <p:sp>
        <p:nvSpPr>
          <p:cNvPr id="19" name="card-Imported locally-line-1">
            <a:extLst xmlns:a="http://schemas.openxmlformats.org/drawingml/2006/main">
              <a:ext uri="{FF2B5EF4-FFF2-40B4-BE49-F238E27FC236}">
                <a16:creationId xmlns:a16="http://schemas.microsoft.com/office/drawing/2014/main" id="{BBEE27EC-88E0-43CA-B721-A7590DD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915 total questions in isolated seed audit</a:t>
            </a:r>
          </a:p>
        </p:txBody>
      </p:sp>
      <p:sp>
        <p:nvSpPr>
          <p:cNvPr id="20" name="card-Imported locally-line-2">
            <a:extLst xmlns:a="http://schemas.openxmlformats.org/drawingml/2006/main">
              <a:ext uri="{FF2B5EF4-FFF2-40B4-BE49-F238E27FC236}">
                <a16:creationId xmlns:a16="http://schemas.microsoft.com/office/drawing/2014/main" id="{F7CFC96A-2711-4705-BC4E-8D93363B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Official UCEED 2017–26 = 698 questions</a:t>
            </a:r>
          </a:p>
        </p:txBody>
      </p:sp>
      <p:sp>
        <p:nvSpPr>
          <p:cNvPr id="21" name="card-Imported locally-line-3">
            <a:extLst xmlns:a="http://schemas.openxmlformats.org/drawingml/2006/main">
              <a:ext uri="{FF2B5EF4-FFF2-40B4-BE49-F238E27FC236}">
                <a16:creationId xmlns:a16="http://schemas.microsoft.com/office/drawing/2014/main" id="{17274DDE-6AD5-4F37-8C97-0E919266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duplicate PDF SHA-256 in the 56 files</a:t>
            </a:r>
          </a:p>
        </p:txBody>
      </p:sp>
      <p:sp>
        <p:nvSpPr>
          <p:cNvPr id="22" name="card-Still to process">
            <a:extLst xmlns:a="http://schemas.openxmlformats.org/drawingml/2006/main">
              <a:ext uri="{FF2B5EF4-FFF2-40B4-BE49-F238E27FC236}">
                <a16:creationId xmlns:a16="http://schemas.microsoft.com/office/drawing/2014/main" id="{8ECF95AC-F893-4E10-9C7E-49C0F60B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5105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23" name="card-title-Still to process">
            <a:extLst xmlns:a="http://schemas.openxmlformats.org/drawingml/2006/main">
              <a:ext uri="{FF2B5EF4-FFF2-40B4-BE49-F238E27FC236}">
                <a16:creationId xmlns:a16="http://schemas.microsoft.com/office/drawing/2014/main" id="{F315A6AC-141D-4C90-9286-5C9C128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Still to process</a:t>
            </a:r>
          </a:p>
        </p:txBody>
      </p:sp>
      <p:sp>
        <p:nvSpPr>
          <p:cNvPr id="24" name="card-Still to process-line-0">
            <a:extLst xmlns:a="http://schemas.openxmlformats.org/drawingml/2006/main">
              <a:ext uri="{FF2B5EF4-FFF2-40B4-BE49-F238E27FC236}">
                <a16:creationId xmlns:a16="http://schemas.microsoft.com/office/drawing/2014/main" id="{68273671-DF65-4A7C-9B81-1F758782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UCEED 2015–16: 180 questions; PDFs + keys exist</a:t>
            </a:r>
          </a:p>
        </p:txBody>
      </p:sp>
      <p:sp>
        <p:nvSpPr>
          <p:cNvPr id="25" name="card-Still to process-line-1">
            <a:extLst xmlns:a="http://schemas.openxmlformats.org/drawingml/2006/main">
              <a:ext uri="{FF2B5EF4-FFF2-40B4-BE49-F238E27FC236}">
                <a16:creationId xmlns:a16="http://schemas.microsoft.com/office/drawing/2014/main" id="{04C18830-2446-4C38-ACDE-3CE4AD4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CEED: source papers; keys only 2020–25 present</a:t>
            </a:r>
          </a:p>
        </p:txBody>
      </p:sp>
      <p:sp>
        <p:nvSpPr>
          <p:cNvPr id="26" name="card-Still to process-line-2">
            <a:extLst xmlns:a="http://schemas.openxmlformats.org/drawingml/2006/main">
              <a:ext uri="{FF2B5EF4-FFF2-40B4-BE49-F238E27FC236}">
                <a16:creationId xmlns:a16="http://schemas.microsoft.com/office/drawing/2014/main" id="{9312A5E8-A45B-48D7-A201-286B4D4D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NIFT CAT/GAT 2016–18: 6 papers; no keys found</a:t>
            </a:r>
          </a:p>
        </p:txBody>
      </p:sp>
      <p:sp>
        <p:nvSpPr>
          <p:cNvPr id="27" name="card-Still to process-line-3">
            <a:extLst xmlns:a="http://schemas.openxmlformats.org/drawingml/2006/main">
              <a:ext uri="{FF2B5EF4-FFF2-40B4-BE49-F238E27FC236}">
                <a16:creationId xmlns:a16="http://schemas.microsoft.com/office/drawing/2014/main" id="{7253AE19-DD41-4C7C-96D8-4ED4B1B1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Identify 7-page media_1790718535711.pdf</a:t>
            </a:r>
          </a:p>
        </p:txBody>
      </p:sp>
      <p:sp>
        <p:nvSpPr>
          <p:cNvPr id="28" name="pdf-caveat">
            <a:extLst xmlns:a="http://schemas.openxmlformats.org/drawingml/2006/main">
              <a:ext uri="{FF2B5EF4-FFF2-40B4-BE49-F238E27FC236}">
                <a16:creationId xmlns:a16="http://schemas.microsoft.com/office/drawing/2014/main" id="{E6EB6C81-E0B9-49EB-B405-4E97879C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PDFs inventoried (page counts recorded); not all have been converted to validated question fixtures.</a:t>
            </a:r>
          </a:p>
        </p:txBody>
      </p:sp>
    </p:spTree>
    <p:extLst>
      <p:ext uri="{BB962C8B-B14F-4D97-AF65-F5344CB8AC3E}">
        <p14:creationId xmlns:p14="http://schemas.microsoft.com/office/powerpoint/2010/main" val="56389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ccent">
            <a:extLst xmlns:a="http://schemas.openxmlformats.org/drawingml/2006/main">
              <a:ext uri="{FF2B5EF4-FFF2-40B4-BE49-F238E27FC236}">
                <a16:creationId xmlns:a16="http://schemas.microsoft.com/office/drawing/2014/main" id="{3983599F-36ED-4DF3-B2BB-D6825445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F25D7F0-D2A0-43B4-BC0C-8937DDCB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3F3384-C230-474E-AF49-FB3C5095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Paper coverage gap is the largest parity blocker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F4A2507-06B2-4A55-A20D-C13F1155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9F3567-F695-4C7A-A321-4492DCD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table-header-1">
            <a:extLst xmlns:a="http://schemas.openxmlformats.org/drawingml/2006/main">
              <a:ext uri="{FF2B5EF4-FFF2-40B4-BE49-F238E27FC236}">
                <a16:creationId xmlns:a16="http://schemas.microsoft.com/office/drawing/2014/main" id="{47390B53-A457-4AF1-BE2D-32650425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EXAM</a:t>
            </a:r>
          </a:p>
        </p:txBody>
      </p:sp>
      <p:sp>
        <p:nvSpPr>
          <p:cNvPr id="7" name="table-header-2">
            <a:extLst xmlns:a="http://schemas.openxmlformats.org/drawingml/2006/main">
              <a:ext uri="{FF2B5EF4-FFF2-40B4-BE49-F238E27FC236}">
                <a16:creationId xmlns:a16="http://schemas.microsoft.com/office/drawing/2014/main" id="{69F1D54E-DDAF-4777-838A-ADADC14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PAPERS (LOCAL / RW)</a:t>
            </a:r>
          </a:p>
        </p:txBody>
      </p:sp>
      <p:sp>
        <p:nvSpPr>
          <p:cNvPr id="8" name="table-header-3">
            <a:extLst xmlns:a="http://schemas.openxmlformats.org/drawingml/2006/main">
              <a:ext uri="{FF2B5EF4-FFF2-40B4-BE49-F238E27FC236}">
                <a16:creationId xmlns:a16="http://schemas.microsoft.com/office/drawing/2014/main" id="{7F98C18D-18CD-4E1E-BCDA-4B28FE2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QUESTIONS (LOCAL / RW)</a:t>
            </a:r>
          </a:p>
        </p:txBody>
      </p:sp>
      <p:sp>
        <p:nvSpPr>
          <p:cNvPr id="9" name="table-header-4">
            <a:extLst xmlns:a="http://schemas.openxmlformats.org/drawingml/2006/main">
              <a:ext uri="{FF2B5EF4-FFF2-40B4-BE49-F238E27FC236}">
                <a16:creationId xmlns:a16="http://schemas.microsoft.com/office/drawing/2014/main" id="{CD40316A-24FD-49DE-8C3D-76F4B17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GAP TO BENCHMARK</a:t>
            </a:r>
          </a:p>
        </p:txBody>
      </p:sp>
      <p:sp>
        <p:nvSpPr>
          <p:cNvPr id="10" name="row-line-0">
            <a:extLst xmlns:a="http://schemas.openxmlformats.org/drawingml/2006/main">
              <a:ext uri="{FF2B5EF4-FFF2-40B4-BE49-F238E27FC236}">
                <a16:creationId xmlns:a16="http://schemas.microsoft.com/office/drawing/2014/main" id="{B35EE492-792B-44AA-B4CD-A1443419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w-0-col-0">
            <a:extLst xmlns:a="http://schemas.openxmlformats.org/drawingml/2006/main">
              <a:ext uri="{FF2B5EF4-FFF2-40B4-BE49-F238E27FC236}">
                <a16:creationId xmlns:a16="http://schemas.microsoft.com/office/drawing/2014/main" id="{04191773-916E-413A-B167-4795105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UCEED</a:t>
            </a:r>
          </a:p>
        </p:txBody>
      </p:sp>
      <p:sp>
        <p:nvSpPr>
          <p:cNvPr id="12" name="row-0-col-1">
            <a:extLst xmlns:a="http://schemas.openxmlformats.org/drawingml/2006/main">
              <a:ext uri="{FF2B5EF4-FFF2-40B4-BE49-F238E27FC236}">
                <a16:creationId xmlns:a16="http://schemas.microsoft.com/office/drawing/2014/main" id="{3DE17723-D3D6-4CC5-B662-985364F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13" name="row-0-col-2">
            <a:extLst xmlns:a="http://schemas.openxmlformats.org/drawingml/2006/main">
              <a:ext uri="{FF2B5EF4-FFF2-40B4-BE49-F238E27FC236}">
                <a16:creationId xmlns:a16="http://schemas.microsoft.com/office/drawing/2014/main" id="{148F5579-32FD-49A9-BDDE-C9A85361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698 / 878</a:t>
            </a:r>
          </a:p>
        </p:txBody>
      </p:sp>
      <p:sp>
        <p:nvSpPr>
          <p:cNvPr id="14" name="row-0-col-3">
            <a:extLst xmlns:a="http://schemas.openxmlformats.org/drawingml/2006/main">
              <a:ext uri="{FF2B5EF4-FFF2-40B4-BE49-F238E27FC236}">
                <a16:creationId xmlns:a16="http://schemas.microsoft.com/office/drawing/2014/main" id="{1A5C8B9B-A2CC-4AAD-AF0D-5E45E7A5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24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+2 papers / 180 Q</a:t>
            </a:r>
          </a:p>
        </p:txBody>
      </p:sp>
      <p:sp>
        <p:nvSpPr>
          <p:cNvPr id="15" name="row-line-1">
            <a:extLst xmlns:a="http://schemas.openxmlformats.org/drawingml/2006/main">
              <a:ext uri="{FF2B5EF4-FFF2-40B4-BE49-F238E27FC236}">
                <a16:creationId xmlns:a16="http://schemas.microsoft.com/office/drawing/2014/main" id="{37215656-2753-434B-B336-90B10AB8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1-col-0">
            <a:extLst xmlns:a="http://schemas.openxmlformats.org/drawingml/2006/main">
              <a:ext uri="{FF2B5EF4-FFF2-40B4-BE49-F238E27FC236}">
                <a16:creationId xmlns:a16="http://schemas.microsoft.com/office/drawing/2014/main" id="{15008347-0B7D-4C75-87F3-6360D060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CEED</a:t>
            </a:r>
          </a:p>
        </p:txBody>
      </p:sp>
      <p:sp>
        <p:nvSpPr>
          <p:cNvPr id="17" name="row-1-col-1">
            <a:extLst xmlns:a="http://schemas.openxmlformats.org/drawingml/2006/main">
              <a:ext uri="{FF2B5EF4-FFF2-40B4-BE49-F238E27FC236}">
                <a16:creationId xmlns:a16="http://schemas.microsoft.com/office/drawing/2014/main" id="{AB41ACAD-FB62-4F35-BF8C-7CA8DF3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9</a:t>
            </a:r>
          </a:p>
        </p:txBody>
      </p:sp>
      <p:sp>
        <p:nvSpPr>
          <p:cNvPr id="18" name="row-1-col-2">
            <a:extLst xmlns:a="http://schemas.openxmlformats.org/drawingml/2006/main">
              <a:ext uri="{FF2B5EF4-FFF2-40B4-BE49-F238E27FC236}">
                <a16:creationId xmlns:a16="http://schemas.microsoft.com/office/drawing/2014/main" id="{FD1FE55C-174B-46A0-B0B8-D64ED8B6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382</a:t>
            </a:r>
          </a:p>
        </p:txBody>
      </p:sp>
      <p:sp>
        <p:nvSpPr>
          <p:cNvPr id="19" name="row-1-col-3">
            <a:extLst xmlns:a="http://schemas.openxmlformats.org/drawingml/2006/main">
              <a:ext uri="{FF2B5EF4-FFF2-40B4-BE49-F238E27FC236}">
                <a16:creationId xmlns:a16="http://schemas.microsoft.com/office/drawing/2014/main" id="{B06ADA47-9E89-4615-9CAC-9087C1E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+9 papers / 382 Q</a:t>
            </a:r>
          </a:p>
        </p:txBody>
      </p:sp>
      <p:sp>
        <p:nvSpPr>
          <p:cNvPr id="20" name="row-line-2">
            <a:extLst xmlns:a="http://schemas.openxmlformats.org/drawingml/2006/main">
              <a:ext uri="{FF2B5EF4-FFF2-40B4-BE49-F238E27FC236}">
                <a16:creationId xmlns:a16="http://schemas.microsoft.com/office/drawing/2014/main" id="{5EBF75B7-D0AF-470E-9EDE-A1EE4BC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w-2-col-0">
            <a:extLst xmlns:a="http://schemas.openxmlformats.org/drawingml/2006/main">
              <a:ext uri="{FF2B5EF4-FFF2-40B4-BE49-F238E27FC236}">
                <a16:creationId xmlns:a16="http://schemas.microsoft.com/office/drawing/2014/main" id="{065B6F43-0292-4261-942A-8C2AFF4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NID UG</a:t>
            </a:r>
          </a:p>
        </p:txBody>
      </p:sp>
      <p:sp>
        <p:nvSpPr>
          <p:cNvPr id="22" name="row-2-col-1">
            <a:extLst xmlns:a="http://schemas.openxmlformats.org/drawingml/2006/main">
              <a:ext uri="{FF2B5EF4-FFF2-40B4-BE49-F238E27FC236}">
                <a16:creationId xmlns:a16="http://schemas.microsoft.com/office/drawing/2014/main" id="{E85879CE-2C4D-44CF-8F49-509BAE5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2</a:t>
            </a:r>
          </a:p>
        </p:txBody>
      </p:sp>
      <p:sp>
        <p:nvSpPr>
          <p:cNvPr id="23" name="row-2-col-2">
            <a:extLst xmlns:a="http://schemas.openxmlformats.org/drawingml/2006/main">
              <a:ext uri="{FF2B5EF4-FFF2-40B4-BE49-F238E27FC236}">
                <a16:creationId xmlns:a16="http://schemas.microsoft.com/office/drawing/2014/main" id="{92A40BF9-79BD-472E-84C4-A92C5A7C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29</a:t>
            </a:r>
          </a:p>
        </p:txBody>
      </p:sp>
      <p:sp>
        <p:nvSpPr>
          <p:cNvPr id="24" name="row-2-col-3">
            <a:extLst xmlns:a="http://schemas.openxmlformats.org/drawingml/2006/main">
              <a:ext uri="{FF2B5EF4-FFF2-40B4-BE49-F238E27FC236}">
                <a16:creationId xmlns:a16="http://schemas.microsoft.com/office/drawing/2014/main" id="{8E875873-4AB0-4A9D-8DEB-57095122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718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Acquire authorized sources</a:t>
            </a:r>
          </a:p>
        </p:txBody>
      </p:sp>
      <p:sp>
        <p:nvSpPr>
          <p:cNvPr id="25" name="row-line-3">
            <a:extLst xmlns:a="http://schemas.openxmlformats.org/drawingml/2006/main">
              <a:ext uri="{FF2B5EF4-FFF2-40B4-BE49-F238E27FC236}">
                <a16:creationId xmlns:a16="http://schemas.microsoft.com/office/drawing/2014/main" id="{4EC383B6-5081-4502-BA5A-718BF39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w-3-col-0">
            <a:extLst xmlns:a="http://schemas.openxmlformats.org/drawingml/2006/main">
              <a:ext uri="{FF2B5EF4-FFF2-40B4-BE49-F238E27FC236}">
                <a16:creationId xmlns:a16="http://schemas.microsoft.com/office/drawing/2014/main" id="{C80966E8-984D-487E-B35B-E01DAC5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NIFT</a:t>
            </a:r>
          </a:p>
        </p:txBody>
      </p:sp>
      <p:sp>
        <p:nvSpPr>
          <p:cNvPr id="27" name="row-3-col-1">
            <a:extLst xmlns:a="http://schemas.openxmlformats.org/drawingml/2006/main">
              <a:ext uri="{FF2B5EF4-FFF2-40B4-BE49-F238E27FC236}">
                <a16:creationId xmlns:a16="http://schemas.microsoft.com/office/drawing/2014/main" id="{6078122A-3797-40B3-94B4-12F763E8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</a:t>
            </a:r>
          </a:p>
        </p:txBody>
      </p:sp>
      <p:sp>
        <p:nvSpPr>
          <p:cNvPr id="28" name="row-3-col-2">
            <a:extLst xmlns:a="http://schemas.openxmlformats.org/drawingml/2006/main">
              <a:ext uri="{FF2B5EF4-FFF2-40B4-BE49-F238E27FC236}">
                <a16:creationId xmlns:a16="http://schemas.microsoft.com/office/drawing/2014/main" id="{BF6E1692-D0B3-4483-B8EF-248C1C23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300</a:t>
            </a:r>
          </a:p>
        </p:txBody>
      </p:sp>
      <p:sp>
        <p:nvSpPr>
          <p:cNvPr id="29" name="row-3-col-3">
            <a:extLst xmlns:a="http://schemas.openxmlformats.org/drawingml/2006/main">
              <a:ext uri="{FF2B5EF4-FFF2-40B4-BE49-F238E27FC236}">
                <a16:creationId xmlns:a16="http://schemas.microsoft.com/office/drawing/2014/main" id="{E95818D3-B014-431A-A4E3-DA948E31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+3 papers / 300 Q</a:t>
            </a:r>
          </a:p>
        </p:txBody>
      </p:sp>
      <p:sp>
        <p:nvSpPr>
          <p:cNvPr id="30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D1EF6CE3-4D8A-495F-BFFC-798FAC2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Roughworks public benchmark reviewed 05 Oct 2026; figures can change. CEED/NID/NIFT local count uses current configured seed list.</a:t>
            </a:r>
          </a:p>
        </p:txBody>
      </p:sp>
      <p:sp>
        <p:nvSpPr>
          <p:cNvPr id="31" name="benchmark-action">
            <a:extLst xmlns:a="http://schemas.openxmlformats.org/drawingml/2006/main">
              <a:ext uri="{FF2B5EF4-FFF2-40B4-BE49-F238E27FC236}">
                <a16:creationId xmlns:a16="http://schemas.microsoft.com/office/drawing/2014/main" id="{E0B73FA0-4A11-493A-8269-DF5F6DF1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Priority: complete UCEED 2015–16, then add verified CEED/NID/NIFT banks.</a:t>
            </a:r>
          </a:p>
        </p:txBody>
      </p:sp>
    </p:spTree>
    <p:extLst>
      <p:ext uri="{BB962C8B-B14F-4D97-AF65-F5344CB8AC3E}">
        <p14:creationId xmlns:p14="http://schemas.microsoft.com/office/powerpoint/2010/main" val="700167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">
            <a:extLst xmlns:a="http://schemas.openxmlformats.org/drawingml/2006/main">
              <a:ext uri="{FF2B5EF4-FFF2-40B4-BE49-F238E27FC236}">
                <a16:creationId xmlns:a16="http://schemas.microsoft.com/office/drawing/2014/main" id="{AFB6622C-52CA-458B-B00E-98F31BA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FC03BC1-CB58-4C00-8CB8-5F8D149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80E41-FC03-4F8F-A562-A4F280DD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Make the question bank useful, not just large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0C40B9A-E286-4B3B-A175-467CF08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A131B67-141F-4FEF-9596-6530AF73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1  Import cleanly">
            <a:extLst xmlns:a="http://schemas.openxmlformats.org/drawingml/2006/main">
              <a:ext uri="{FF2B5EF4-FFF2-40B4-BE49-F238E27FC236}">
                <a16:creationId xmlns:a16="http://schemas.microsoft.com/office/drawing/2014/main" id="{238B307C-25B3-4EA3-AA7B-88C91ED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1  Import cleanly">
            <a:extLst xmlns:a="http://schemas.openxmlformats.org/drawingml/2006/main">
              <a:ext uri="{FF2B5EF4-FFF2-40B4-BE49-F238E27FC236}">
                <a16:creationId xmlns:a16="http://schemas.microsoft.com/office/drawing/2014/main" id="{364C17F3-4573-4EE2-9947-ECC3086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1  Import cleanly</a:t>
            </a:r>
          </a:p>
        </p:txBody>
      </p:sp>
      <p:sp>
        <p:nvSpPr>
          <p:cNvPr id="8" name="card-1  Import cleanly-line-0">
            <a:extLst xmlns:a="http://schemas.openxmlformats.org/drawingml/2006/main">
              <a:ext uri="{FF2B5EF4-FFF2-40B4-BE49-F238E27FC236}">
                <a16:creationId xmlns:a16="http://schemas.microsoft.com/office/drawing/2014/main" id="{58B65A0B-2185-44FE-9FF4-42FC446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repeatable PDF → fixture workflow</a:t>
            </a:r>
          </a:p>
        </p:txBody>
      </p:sp>
      <p:sp>
        <p:nvSpPr>
          <p:cNvPr id="9" name="card-1  Import cleanly-line-1">
            <a:extLst xmlns:a="http://schemas.openxmlformats.org/drawingml/2006/main">
              <a:ext uri="{FF2B5EF4-FFF2-40B4-BE49-F238E27FC236}">
                <a16:creationId xmlns:a16="http://schemas.microsoft.com/office/drawing/2014/main" id="{B07BFAFF-BC54-491A-B475-1AB11CAC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Preserve diagrams and page/question links</a:t>
            </a:r>
          </a:p>
        </p:txBody>
      </p:sp>
      <p:sp>
        <p:nvSpPr>
          <p:cNvPr id="10" name="card-1  Import cleanly-line-2">
            <a:extLst xmlns:a="http://schemas.openxmlformats.org/drawingml/2006/main">
              <a:ext uri="{FF2B5EF4-FFF2-40B4-BE49-F238E27FC236}">
                <a16:creationId xmlns:a16="http://schemas.microsoft.com/office/drawing/2014/main" id="{5D34020A-9F7D-45CF-9CB1-155C7A5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6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Verify answer + marks with a second reviewer</a:t>
            </a:r>
          </a:p>
        </p:txBody>
      </p:sp>
      <p:sp>
        <p:nvSpPr>
          <p:cNvPr id="11" name="card-1  Import cleanly-line-3">
            <a:extLst xmlns:a="http://schemas.openxmlformats.org/drawingml/2006/main">
              <a:ext uri="{FF2B5EF4-FFF2-40B4-BE49-F238E27FC236}">
                <a16:creationId xmlns:a16="http://schemas.microsoft.com/office/drawing/2014/main" id="{E07793A2-8C04-4D35-9B42-745F4A84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Unkeyed material stays browse-only</a:t>
            </a:r>
          </a:p>
        </p:txBody>
      </p:sp>
      <p:sp>
        <p:nvSpPr>
          <p:cNvPr id="12" name="card-2  Practise precisely">
            <a:extLst xmlns:a="http://schemas.openxmlformats.org/drawingml/2006/main">
              <a:ext uri="{FF2B5EF4-FFF2-40B4-BE49-F238E27FC236}">
                <a16:creationId xmlns:a16="http://schemas.microsoft.com/office/drawing/2014/main" id="{EA6D11EA-B7B2-471A-8C9E-5F30BB9D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2  Practise precisely">
            <a:extLst xmlns:a="http://schemas.openxmlformats.org/drawingml/2006/main">
              <a:ext uri="{FF2B5EF4-FFF2-40B4-BE49-F238E27FC236}">
                <a16:creationId xmlns:a16="http://schemas.microsoft.com/office/drawing/2014/main" id="{ABBE8EF8-3EB1-4F29-970E-E6F7A9BF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  Practise precisely</a:t>
            </a:r>
          </a:p>
        </p:txBody>
      </p:sp>
      <p:sp>
        <p:nvSpPr>
          <p:cNvPr id="14" name="card-2  Practise precisely-line-0">
            <a:extLst xmlns:a="http://schemas.openxmlformats.org/drawingml/2006/main">
              <a:ext uri="{FF2B5EF4-FFF2-40B4-BE49-F238E27FC236}">
                <a16:creationId xmlns:a16="http://schemas.microsoft.com/office/drawing/2014/main" id="{88A230FF-FE2F-4D83-AEA1-681067C7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Four exam hubs + year/topic map</a:t>
            </a:r>
          </a:p>
        </p:txBody>
      </p:sp>
      <p:sp>
        <p:nvSpPr>
          <p:cNvPr id="15" name="card-2  Practise precisely-line-1">
            <a:extLst xmlns:a="http://schemas.openxmlformats.org/drawingml/2006/main">
              <a:ext uri="{FF2B5EF4-FFF2-40B4-BE49-F238E27FC236}">
                <a16:creationId xmlns:a16="http://schemas.microsoft.com/office/drawing/2014/main" id="{CA4C7FD1-A5EB-4964-8611-6621BED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Question type, difficulty and source filters</a:t>
            </a:r>
          </a:p>
        </p:txBody>
      </p:sp>
      <p:sp>
        <p:nvSpPr>
          <p:cNvPr id="16" name="card-2  Practise precisely-line-2">
            <a:extLst xmlns:a="http://schemas.openxmlformats.org/drawingml/2006/main">
              <a:ext uri="{FF2B5EF4-FFF2-40B4-BE49-F238E27FC236}">
                <a16:creationId xmlns:a16="http://schemas.microsoft.com/office/drawing/2014/main" id="{2D77F19B-949E-45E2-99AF-2EF9BC14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Free guest paper mode + progress resume</a:t>
            </a:r>
          </a:p>
        </p:txBody>
      </p:sp>
      <p:sp>
        <p:nvSpPr>
          <p:cNvPr id="17" name="card-2  Practise precisely-line-3">
            <a:extLst xmlns:a="http://schemas.openxmlformats.org/drawingml/2006/main">
              <a:ext uri="{FF2B5EF4-FFF2-40B4-BE49-F238E27FC236}">
                <a16:creationId xmlns:a16="http://schemas.microsoft.com/office/drawing/2014/main" id="{F1766C81-C381-4C07-B418-BD2B493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Report a bad question / missing image</a:t>
            </a:r>
          </a:p>
        </p:txBody>
      </p:sp>
      <p:sp>
        <p:nvSpPr>
          <p:cNvPr id="18" name="card-3  Learn from mistakes">
            <a:extLst xmlns:a="http://schemas.openxmlformats.org/drawingml/2006/main">
              <a:ext uri="{FF2B5EF4-FFF2-40B4-BE49-F238E27FC236}">
                <a16:creationId xmlns:a16="http://schemas.microsoft.com/office/drawing/2014/main" id="{5DEA2231-2215-460B-95F0-38C1F8A2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9" name="card-title-3  Learn from mistakes">
            <a:extLst xmlns:a="http://schemas.openxmlformats.org/drawingml/2006/main">
              <a:ext uri="{FF2B5EF4-FFF2-40B4-BE49-F238E27FC236}">
                <a16:creationId xmlns:a16="http://schemas.microsoft.com/office/drawing/2014/main" id="{F6153D58-760E-4329-BF59-E6D5F641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3  Learn from mistakes</a:t>
            </a:r>
          </a:p>
        </p:txBody>
      </p:sp>
      <p:sp>
        <p:nvSpPr>
          <p:cNvPr id="20" name="card-3  Learn from mistakes-line-0">
            <a:extLst xmlns:a="http://schemas.openxmlformats.org/drawingml/2006/main">
              <a:ext uri="{FF2B5EF4-FFF2-40B4-BE49-F238E27FC236}">
                <a16:creationId xmlns:a16="http://schemas.microsoft.com/office/drawing/2014/main" id="{DB6C95C2-8C00-492A-9BA1-4037A9A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Stable dedupe across copied editions</a:t>
            </a:r>
          </a:p>
        </p:txBody>
      </p:sp>
      <p:sp>
        <p:nvSpPr>
          <p:cNvPr id="21" name="card-3  Learn from mistakes-line-1">
            <a:extLst xmlns:a="http://schemas.openxmlformats.org/drawingml/2006/main">
              <a:ext uri="{FF2B5EF4-FFF2-40B4-BE49-F238E27FC236}">
                <a16:creationId xmlns:a16="http://schemas.microsoft.com/office/drawing/2014/main" id="{C36CB6C1-E21C-414E-AB8D-B8D09E78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Rationales and cited solutions</a:t>
            </a:r>
          </a:p>
        </p:txBody>
      </p:sp>
      <p:sp>
        <p:nvSpPr>
          <p:cNvPr id="22" name="card-3  Learn from mistakes-line-2">
            <a:extLst xmlns:a="http://schemas.openxmlformats.org/drawingml/2006/main">
              <a:ext uri="{FF2B5EF4-FFF2-40B4-BE49-F238E27FC236}">
                <a16:creationId xmlns:a16="http://schemas.microsoft.com/office/drawing/2014/main" id="{D3728371-C743-4E7C-8537-7F06A466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Bookmarks, wrong-box and revision queue</a:t>
            </a:r>
          </a:p>
        </p:txBody>
      </p:sp>
      <p:sp>
        <p:nvSpPr>
          <p:cNvPr id="23" name="card-3  Learn from mistakes-line-3">
            <a:extLst xmlns:a="http://schemas.openxmlformats.org/drawingml/2006/main">
              <a:ext uri="{FF2B5EF4-FFF2-40B4-BE49-F238E27FC236}">
                <a16:creationId xmlns:a16="http://schemas.microsoft.com/office/drawing/2014/main" id="{5306602A-C989-4C38-A21E-07F3A69B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Track attempt count and mastery honestly</a:t>
            </a:r>
          </a:p>
        </p:txBody>
      </p:sp>
      <p:sp>
        <p:nvSpPr>
          <p:cNvPr id="24" name="practice-now">
            <a:extLst xmlns:a="http://schemas.openxmlformats.org/drawingml/2006/main">
              <a:ext uri="{FF2B5EF4-FFF2-40B4-BE49-F238E27FC236}">
                <a16:creationId xmlns:a16="http://schemas.microsoft.com/office/drawing/2014/main" id="{22B85333-705A-4980-8A64-B9DEE451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Existing base: MCQ / MSQ / NAT scoring, saved practice, bookmarks, topic filters and resumable attempts are covered by current tests.</a:t>
            </a:r>
          </a:p>
        </p:txBody>
      </p:sp>
    </p:spTree>
    <p:extLst>
      <p:ext uri="{BB962C8B-B14F-4D97-AF65-F5344CB8AC3E}">
        <p14:creationId xmlns:p14="http://schemas.microsoft.com/office/powerpoint/2010/main" val="641235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F18C16A4-F117-4976-9DD2-80CCE661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499ED6C-42FA-4102-B6B3-CAAD9B8F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5B2DE9-7902-4947-8CC1-E299D06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Close the daily habit + Part B community gap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B74A488-BF72-4158-97B2-6ECC6BD3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E46DC0-1DDC-4A86-A725-254A40FA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GK Sprint">
            <a:extLst xmlns:a="http://schemas.openxmlformats.org/drawingml/2006/main">
              <a:ext uri="{FF2B5EF4-FFF2-40B4-BE49-F238E27FC236}">
                <a16:creationId xmlns:a16="http://schemas.microsoft.com/office/drawing/2014/main" id="{03E9CA50-9C93-4876-B9A4-175D8AE2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GK Sprint">
            <a:extLst xmlns:a="http://schemas.openxmlformats.org/drawingml/2006/main">
              <a:ext uri="{FF2B5EF4-FFF2-40B4-BE49-F238E27FC236}">
                <a16:creationId xmlns:a16="http://schemas.microsoft.com/office/drawing/2014/main" id="{4043F0DF-CC5B-4403-8760-FD41EBC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GK Sprint</a:t>
            </a:r>
          </a:p>
        </p:txBody>
      </p:sp>
      <p:sp>
        <p:nvSpPr>
          <p:cNvPr id="8" name="card-GK Sprint-line-0">
            <a:extLst xmlns:a="http://schemas.openxmlformats.org/drawingml/2006/main">
              <a:ext uri="{FF2B5EF4-FFF2-40B4-BE49-F238E27FC236}">
                <a16:creationId xmlns:a16="http://schemas.microsoft.com/office/drawing/2014/main" id="{1AA50CCD-401E-4821-8245-493308B0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Public daily 5-question rotation</a:t>
            </a:r>
          </a:p>
        </p:txBody>
      </p:sp>
      <p:sp>
        <p:nvSpPr>
          <p:cNvPr id="9" name="card-GK Sprint-line-1">
            <a:extLst xmlns:a="http://schemas.openxmlformats.org/drawingml/2006/main">
              <a:ext uri="{FF2B5EF4-FFF2-40B4-BE49-F238E27FC236}">
                <a16:creationId xmlns:a16="http://schemas.microsoft.com/office/drawing/2014/main" id="{19BE0242-2A3D-4C67-88AB-483F7469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After-quiz flashcard recall</a:t>
            </a:r>
          </a:p>
        </p:txBody>
      </p:sp>
      <p:sp>
        <p:nvSpPr>
          <p:cNvPr id="10" name="card-GK Sprint-line-2">
            <a:extLst xmlns:a="http://schemas.openxmlformats.org/drawingml/2006/main">
              <a:ext uri="{FF2B5EF4-FFF2-40B4-BE49-F238E27FC236}">
                <a16:creationId xmlns:a16="http://schemas.microsoft.com/office/drawing/2014/main" id="{59A2D481-58BE-4821-8D90-E1B71F6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660+ cited, freshness-reviewed cards</a:t>
            </a:r>
          </a:p>
        </p:txBody>
      </p:sp>
      <p:sp>
        <p:nvSpPr>
          <p:cNvPr id="11" name="card-GK Sprint-line-3">
            <a:extLst xmlns:a="http://schemas.openxmlformats.org/drawingml/2006/main">
              <a:ext uri="{FF2B5EF4-FFF2-40B4-BE49-F238E27FC236}">
                <a16:creationId xmlns:a16="http://schemas.microsoft.com/office/drawing/2014/main" id="{17BB1241-0B98-4883-B98B-84A4BE4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Wrong Box: missed / unsure review</a:t>
            </a:r>
          </a:p>
        </p:txBody>
      </p:sp>
      <p:sp>
        <p:nvSpPr>
          <p:cNvPr id="12" name="card-Drawing + peer loop">
            <a:extLst xmlns:a="http://schemas.openxmlformats.org/drawingml/2006/main">
              <a:ext uri="{FF2B5EF4-FFF2-40B4-BE49-F238E27FC236}">
                <a16:creationId xmlns:a16="http://schemas.microsoft.com/office/drawing/2014/main" id="{78256DA7-D051-4469-9F4F-1112F5AB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Drawing + peer loop">
            <a:extLst xmlns:a="http://schemas.openxmlformats.org/drawingml/2006/main">
              <a:ext uri="{FF2B5EF4-FFF2-40B4-BE49-F238E27FC236}">
                <a16:creationId xmlns:a16="http://schemas.microsoft.com/office/drawing/2014/main" id="{4739843C-53DB-4BF0-A463-8F463C16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Drawing + peer loop</a:t>
            </a:r>
          </a:p>
        </p:txBody>
      </p:sp>
      <p:sp>
        <p:nvSpPr>
          <p:cNvPr id="14" name="card-Drawing + peer loop-line-0">
            <a:extLst xmlns:a="http://schemas.openxmlformats.org/drawingml/2006/main">
              <a:ext uri="{FF2B5EF4-FFF2-40B4-BE49-F238E27FC236}">
                <a16:creationId xmlns:a16="http://schemas.microsoft.com/office/drawing/2014/main" id="{6D5AFF16-8C22-4EF9-BBA7-008C9B5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a tagged prompt bank (benchmark: 121)</a:t>
            </a:r>
          </a:p>
        </p:txBody>
      </p:sp>
      <p:sp>
        <p:nvSpPr>
          <p:cNvPr id="15" name="card-Drawing + peer loop-line-1">
            <a:extLst xmlns:a="http://schemas.openxmlformats.org/drawingml/2006/main">
              <a:ext uri="{FF2B5EF4-FFF2-40B4-BE49-F238E27FC236}">
                <a16:creationId xmlns:a16="http://schemas.microsoft.com/office/drawing/2014/main" id="{C9F21883-483C-4499-9422-9EF4B38E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Timer, brief, notes and clear rubric</a:t>
            </a:r>
          </a:p>
        </p:txBody>
      </p:sp>
      <p:sp>
        <p:nvSpPr>
          <p:cNvPr id="16" name="card-Drawing + peer loop-line-2">
            <a:extLst xmlns:a="http://schemas.openxmlformats.org/drawingml/2006/main">
              <a:ext uri="{FF2B5EF4-FFF2-40B4-BE49-F238E27FC236}">
                <a16:creationId xmlns:a16="http://schemas.microsoft.com/office/drawing/2014/main" id="{C55F57C3-BE1F-4E57-9843-FD13A141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Opt-in public gallery with consent/anonymity</a:t>
            </a:r>
          </a:p>
        </p:txBody>
      </p:sp>
      <p:sp>
        <p:nvSpPr>
          <p:cNvPr id="17" name="card-Drawing + peer loop-line-3">
            <a:extLst xmlns:a="http://schemas.openxmlformats.org/drawingml/2006/main">
              <a:ext uri="{FF2B5EF4-FFF2-40B4-BE49-F238E27FC236}">
                <a16:creationId xmlns:a16="http://schemas.microsoft.com/office/drawing/2014/main" id="{2DCEFFF1-C7A2-400A-A8EA-E5A54A1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Moderation, reports, takedown and feedback</a:t>
            </a:r>
          </a:p>
        </p:txBody>
      </p:sp>
      <p:sp>
        <p:nvSpPr>
          <p:cNvPr id="18" name="current-vs-gap">
            <a:extLst xmlns:a="http://schemas.openxmlformats.org/drawingml/2006/main">
              <a:ext uri="{FF2B5EF4-FFF2-40B4-BE49-F238E27FC236}">
                <a16:creationId xmlns:a16="http://schemas.microsoft.com/office/drawing/2014/main" id="{CDEEE419-4938-4968-B08B-799AA62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Current app has private GK progress, guide quiz and private sketch uploads; parity requires public content volume, prompt authoring and safe community workflows.</a:t>
            </a:r>
          </a:p>
        </p:txBody>
      </p:sp>
    </p:spTree>
    <p:extLst>
      <p:ext uri="{BB962C8B-B14F-4D97-AF65-F5344CB8AC3E}">
        <p14:creationId xmlns:p14="http://schemas.microsoft.com/office/powerpoint/2010/main" val="1858662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">
            <a:extLst xmlns:a="http://schemas.openxmlformats.org/drawingml/2006/main">
              <a:ext uri="{FF2B5EF4-FFF2-40B4-BE49-F238E27FC236}">
                <a16:creationId xmlns:a16="http://schemas.microsoft.com/office/drawing/2014/main" id="{B1A8C2F0-E960-4DF6-B938-581FDF8B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62F3A4D-716E-47CB-A821-FD12023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87C4C1-E7B3-4236-AAE4-9A3D85CA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trust into analytics, guides and accounts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B81382-24FB-4E8B-ADCE-82EA768C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D1B33BE-974C-4830-B723-DF5AE59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753CC3D0-6E73-48D7-B48E-61F25006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EE45026-CE5A-4631-8E23-2C46EE0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Expand reliable analytics: streaks, topic mastery, mock history, comparisons and data-threshold explanations.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759E32F-B697-407B-9889-01415CC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9B81CAC-D4BC-45E4-8316-4E2D868C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Create exam-specific guides with source links, review dates, worked examples and revision history.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5ED163E-6DC6-4338-964D-370659CB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0C457F2-FC5A-4865-9E9A-D3525DC2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account onboarding, recovery, session/security controls, export/delete request and clear privacy/consent UX.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1F881C4-00A9-4512-8BFA-1FF72AC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63C2B69-E172-46DB-951C-E9E81D9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accessibility and low-bandwidth QA: keyboard, contrast, mobile, diagram fallback and reduced-motion.</a:t>
            </a:r>
          </a:p>
        </p:txBody>
      </p:sp>
      <p:sp>
        <p:nvSpPr>
          <p:cNvPr id="14" name="card-Keep metrics honest">
            <a:extLst xmlns:a="http://schemas.openxmlformats.org/drawingml/2006/main">
              <a:ext uri="{FF2B5EF4-FFF2-40B4-BE49-F238E27FC236}">
                <a16:creationId xmlns:a16="http://schemas.microsoft.com/office/drawing/2014/main" id="{526B06C3-4D42-4BCA-8CD0-0A28229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5" name="card-title-Keep metrics honest">
            <a:extLst xmlns:a="http://schemas.openxmlformats.org/drawingml/2006/main">
              <a:ext uri="{FF2B5EF4-FFF2-40B4-BE49-F238E27FC236}">
                <a16:creationId xmlns:a16="http://schemas.microsoft.com/office/drawing/2014/main" id="{38D195E6-BE69-4BA0-BDAF-88FB87C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96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Keep metrics honest</a:t>
            </a:r>
          </a:p>
        </p:txBody>
      </p:sp>
      <p:sp>
        <p:nvSpPr>
          <p:cNvPr id="16" name="card-Keep metrics honest-line-0">
            <a:extLst xmlns:a="http://schemas.openxmlformats.org/drawingml/2006/main">
              <a:ext uri="{FF2B5EF4-FFF2-40B4-BE49-F238E27FC236}">
                <a16:creationId xmlns:a16="http://schemas.microsoft.com/office/drawing/2014/main" id="{711471C8-1E0D-49AD-9E76-254D54B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996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fabricated schedule, retention, rank, or “AI” recommendation claims without real data.</a:t>
            </a:r>
          </a:p>
        </p:txBody>
      </p:sp>
    </p:spTree>
    <p:extLst>
      <p:ext uri="{BB962C8B-B14F-4D97-AF65-F5344CB8AC3E}">
        <p14:creationId xmlns:p14="http://schemas.microsoft.com/office/powerpoint/2010/main" val="209359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2F64EA69-41D8-4C94-A906-8C36E968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F92EEC3-4F32-4F30-B11C-2FF1892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626B41-23F6-485D-AB20-3B6882D0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If paid mocks are in scope, build the full service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58DB809-6EBA-487E-BCB5-CC8E5D21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7A372E-D03E-4308-A667-353887D1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Product flow">
            <a:extLst xmlns:a="http://schemas.openxmlformats.org/drawingml/2006/main">
              <a:ext uri="{FF2B5EF4-FFF2-40B4-BE49-F238E27FC236}">
                <a16:creationId xmlns:a16="http://schemas.microsoft.com/office/drawing/2014/main" id="{C4E3897E-E78C-4442-B120-C450E4C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1054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Product flow">
            <a:extLst xmlns:a="http://schemas.openxmlformats.org/drawingml/2006/main">
              <a:ext uri="{FF2B5EF4-FFF2-40B4-BE49-F238E27FC236}">
                <a16:creationId xmlns:a16="http://schemas.microsoft.com/office/drawing/2014/main" id="{5091EC8E-B865-4A3A-833A-CB512393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Product flow</a:t>
            </a:r>
          </a:p>
        </p:txBody>
      </p:sp>
      <p:sp>
        <p:nvSpPr>
          <p:cNvPr id="8" name="card-Product flow-line-0">
            <a:extLst xmlns:a="http://schemas.openxmlformats.org/drawingml/2006/main">
              <a:ext uri="{FF2B5EF4-FFF2-40B4-BE49-F238E27FC236}">
                <a16:creationId xmlns:a16="http://schemas.microsoft.com/office/drawing/2014/main" id="{288F1151-C572-4B69-9A21-25739C8A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Published date/time, capacity and eligibility</a:t>
            </a:r>
          </a:p>
        </p:txBody>
      </p:sp>
      <p:sp>
        <p:nvSpPr>
          <p:cNvPr id="9" name="card-Product flow-line-1">
            <a:extLst xmlns:a="http://schemas.openxmlformats.org/drawingml/2006/main">
              <a:ext uri="{FF2B5EF4-FFF2-40B4-BE49-F238E27FC236}">
                <a16:creationId xmlns:a16="http://schemas.microsoft.com/office/drawing/2014/main" id="{0125B447-7AE3-4BED-A1B9-30F5308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Registration, confirmation and reminder</a:t>
            </a:r>
          </a:p>
        </p:txBody>
      </p:sp>
      <p:sp>
        <p:nvSpPr>
          <p:cNvPr id="10" name="card-Product flow-line-2">
            <a:extLst xmlns:a="http://schemas.openxmlformats.org/drawingml/2006/main">
              <a:ext uri="{FF2B5EF4-FFF2-40B4-BE49-F238E27FC236}">
                <a16:creationId xmlns:a16="http://schemas.microsoft.com/office/drawing/2014/main" id="{0D9B8B49-2958-4E17-8435-CDD76E9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Payment provider + signed webhooks</a:t>
            </a:r>
          </a:p>
        </p:txBody>
      </p:sp>
      <p:sp>
        <p:nvSpPr>
          <p:cNvPr id="11" name="card-Product flow-line-3">
            <a:extLst xmlns:a="http://schemas.openxmlformats.org/drawingml/2006/main">
              <a:ext uri="{FF2B5EF4-FFF2-40B4-BE49-F238E27FC236}">
                <a16:creationId xmlns:a16="http://schemas.microsoft.com/office/drawing/2014/main" id="{0733EA2B-C11F-42AD-9F17-09769353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Cancel/refund and seat reconciliation</a:t>
            </a:r>
          </a:p>
        </p:txBody>
      </p:sp>
      <p:sp>
        <p:nvSpPr>
          <p:cNvPr id="12" name="card-Exam-day + review">
            <a:extLst xmlns:a="http://schemas.openxmlformats.org/drawingml/2006/main">
              <a:ext uri="{FF2B5EF4-FFF2-40B4-BE49-F238E27FC236}">
                <a16:creationId xmlns:a16="http://schemas.microsoft.com/office/drawing/2014/main" id="{98F9A2A3-6409-45CB-BCC6-A375C57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1054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Exam-day + review">
            <a:extLst xmlns:a="http://schemas.openxmlformats.org/drawingml/2006/main">
              <a:ext uri="{FF2B5EF4-FFF2-40B4-BE49-F238E27FC236}">
                <a16:creationId xmlns:a16="http://schemas.microsoft.com/office/drawing/2014/main" id="{BC79C101-B41B-441C-8734-B41E8A7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Exam-day + review</a:t>
            </a:r>
          </a:p>
        </p:txBody>
      </p:sp>
      <p:sp>
        <p:nvSpPr>
          <p:cNvPr id="14" name="card-Exam-day + review-line-0">
            <a:extLst xmlns:a="http://schemas.openxmlformats.org/drawingml/2006/main">
              <a:ext uri="{FF2B5EF4-FFF2-40B4-BE49-F238E27FC236}">
                <a16:creationId xmlns:a16="http://schemas.microsoft.com/office/drawing/2014/main" id="{2272C639-B36C-4CFC-AAE8-FC0DC015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Timed Part A + Part B submission</a:t>
            </a:r>
          </a:p>
        </p:txBody>
      </p:sp>
      <p:sp>
        <p:nvSpPr>
          <p:cNvPr id="15" name="card-Exam-day + review-line-1">
            <a:extLst xmlns:a="http://schemas.openxmlformats.org/drawingml/2006/main">
              <a:ext uri="{FF2B5EF4-FFF2-40B4-BE49-F238E27FC236}">
                <a16:creationId xmlns:a16="http://schemas.microsoft.com/office/drawing/2014/main" id="{4F636839-4333-40FB-9015-E7272711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Human scoring rubric + reviewer workflow</a:t>
            </a:r>
          </a:p>
        </p:txBody>
      </p:sp>
      <p:sp>
        <p:nvSpPr>
          <p:cNvPr id="16" name="card-Exam-day + review-line-2">
            <a:extLst xmlns:a="http://schemas.openxmlformats.org/drawingml/2006/main">
              <a:ext uri="{FF2B5EF4-FFF2-40B4-BE49-F238E27FC236}">
                <a16:creationId xmlns:a16="http://schemas.microsoft.com/office/drawing/2014/main" id="{CCA28617-2669-452E-B800-67684FB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Published rank/analysis only after review</a:t>
            </a:r>
          </a:p>
        </p:txBody>
      </p:sp>
      <p:sp>
        <p:nvSpPr>
          <p:cNvPr id="17" name="card-Exam-day + review-line-3">
            <a:extLst xmlns:a="http://schemas.openxmlformats.org/drawingml/2006/main">
              <a:ext uri="{FF2B5EF4-FFF2-40B4-BE49-F238E27FC236}">
                <a16:creationId xmlns:a16="http://schemas.microsoft.com/office/drawing/2014/main" id="{5B268BD8-5CBC-43CD-8982-42318C20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Dispute, support and audit trail</a:t>
            </a:r>
          </a:p>
        </p:txBody>
      </p:sp>
      <p:sp>
        <p:nvSpPr>
          <p:cNvPr id="18" name="scope-note">
            <a:extLst xmlns:a="http://schemas.openxmlformats.org/drawingml/2006/main">
              <a:ext uri="{FF2B5EF4-FFF2-40B4-BE49-F238E27FC236}">
                <a16:creationId xmlns:a16="http://schemas.microsoft.com/office/drawing/2014/main" id="{0B893CD1-C590-42D3-A564-E3FC808F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Roughworks’ 2026 mock page showed ₹99, 100 seats and human-evaluated Part B. Treat paid events as an optional product decision, not a launch prerequisite.</a:t>
            </a:r>
          </a:p>
        </p:txBody>
      </p:sp>
    </p:spTree>
    <p:extLst>
      <p:ext uri="{BB962C8B-B14F-4D97-AF65-F5344CB8AC3E}">
        <p14:creationId xmlns:p14="http://schemas.microsoft.com/office/powerpoint/2010/main" val="1637055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accent">
            <a:extLst xmlns:a="http://schemas.openxmlformats.org/drawingml/2006/main">
              <a:ext uri="{FF2B5EF4-FFF2-40B4-BE49-F238E27FC236}">
                <a16:creationId xmlns:a16="http://schemas.microsoft.com/office/drawing/2014/main" id="{A1C9C048-B821-42A3-9FD8-67BF0CE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0350B10-DFCC-4F0C-BB8E-8147E95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5F29C2-CEFD-4063-AAD0-F4AB885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Roughworks-ready backlog: sequence by risk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C8F55DD-3971-4D11-9944-8CAA5CB5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7F7F1DE-EEB6-4B57-9FAC-9A9681B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p-0-label">
            <a:extLst xmlns:a="http://schemas.openxmlformats.org/drawingml/2006/main">
              <a:ext uri="{FF2B5EF4-FFF2-40B4-BE49-F238E27FC236}">
                <a16:creationId xmlns:a16="http://schemas.microsoft.com/office/drawing/2014/main" id="{5FAE657E-6D08-4657-B68E-DB238AD4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P0 · NOW</a:t>
            </a:r>
          </a:p>
        </p:txBody>
      </p:sp>
      <p:sp>
        <p:nvSpPr>
          <p:cNvPr id="7" name="p-0-title">
            <a:extLst xmlns:a="http://schemas.openxmlformats.org/drawingml/2006/main">
              <a:ext uri="{FF2B5EF4-FFF2-40B4-BE49-F238E27FC236}">
                <a16:creationId xmlns:a16="http://schemas.microsoft.com/office/drawing/2014/main" id="{1E2145BD-018B-4DB6-809A-ECD1573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382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Structured QA</a:t>
            </a:r>
          </a:p>
        </p:txBody>
      </p:sp>
      <p:sp>
        <p:nvSpPr>
          <p:cNvPr id="8" name="p-0-eta">
            <a:extLst xmlns:a="http://schemas.openxmlformats.org/drawingml/2006/main">
              <a:ext uri="{FF2B5EF4-FFF2-40B4-BE49-F238E27FC236}">
                <a16:creationId xmlns:a16="http://schemas.microsoft.com/office/drawing/2014/main" id="{BC5FBAD1-D986-4C29-9C57-7721A4E8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days</a:t>
            </a:r>
          </a:p>
        </p:txBody>
      </p:sp>
      <p:sp>
        <p:nvSpPr>
          <p:cNvPr id="9" name="p-0-text">
            <a:extLst xmlns:a="http://schemas.openxmlformats.org/drawingml/2006/main">
              <a:ext uri="{FF2B5EF4-FFF2-40B4-BE49-F238E27FC236}">
                <a16:creationId xmlns:a16="http://schemas.microsoft.com/office/drawing/2014/main" id="{568089C1-1181-435E-B734-C4E8F59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Route checklist, test accounts, seeded fixtures, defect triage; add API/browser regression for every blocker.</a:t>
            </a:r>
          </a:p>
        </p:txBody>
      </p:sp>
      <p:sp>
        <p:nvSpPr>
          <p:cNvPr id="10" name="p-line-0">
            <a:extLst xmlns:a="http://schemas.openxmlformats.org/drawingml/2006/main">
              <a:ext uri="{FF2B5EF4-FFF2-40B4-BE49-F238E27FC236}">
                <a16:creationId xmlns:a16="http://schemas.microsoft.com/office/drawing/2014/main" id="{7B565610-78D5-4CBE-B146-8780758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-1-label">
            <a:extLst xmlns:a="http://schemas.openxmlformats.org/drawingml/2006/main">
              <a:ext uri="{FF2B5EF4-FFF2-40B4-BE49-F238E27FC236}">
                <a16:creationId xmlns:a16="http://schemas.microsoft.com/office/drawing/2014/main" id="{BEA0F61C-3F83-4D39-AEDB-EDE17FAA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P1 · CONTENT</a:t>
            </a:r>
          </a:p>
        </p:txBody>
      </p:sp>
      <p:sp>
        <p:nvSpPr>
          <p:cNvPr id="12" name="p-1-title">
            <a:extLst xmlns:a="http://schemas.openxmlformats.org/drawingml/2006/main">
              <a:ext uri="{FF2B5EF4-FFF2-40B4-BE49-F238E27FC236}">
                <a16:creationId xmlns:a16="http://schemas.microsoft.com/office/drawing/2014/main" id="{16E4E9BD-25AD-4478-A1ED-487CC17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71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UCEED parity</a:t>
            </a:r>
          </a:p>
        </p:txBody>
      </p:sp>
      <p:sp>
        <p:nvSpPr>
          <p:cNvPr id="13" name="p-1-eta">
            <a:extLst xmlns:a="http://schemas.openxmlformats.org/drawingml/2006/main">
              <a:ext uri="{FF2B5EF4-FFF2-40B4-BE49-F238E27FC236}">
                <a16:creationId xmlns:a16="http://schemas.microsoft.com/office/drawing/2014/main" id="{0502771B-DB7B-47AC-8119-56D3C70C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1–2 weeks</a:t>
            </a:r>
          </a:p>
        </p:txBody>
      </p:sp>
      <p:sp>
        <p:nvSpPr>
          <p:cNvPr id="14" name="p-1-text">
            <a:extLst xmlns:a="http://schemas.openxmlformats.org/drawingml/2006/main">
              <a:ext uri="{FF2B5EF4-FFF2-40B4-BE49-F238E27FC236}">
                <a16:creationId xmlns:a16="http://schemas.microsoft.com/office/drawing/2014/main" id="{3136D4D2-924F-4D20-9389-04B7CE58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621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Transcribe UCEED 2015–16 (180 Q), keys, diagrams, marks; independently review; verify/import available CEED papers and add 2026 only from an authorized source.</a:t>
            </a:r>
          </a:p>
        </p:txBody>
      </p:sp>
      <p:sp>
        <p:nvSpPr>
          <p:cNvPr id="15" name="p-line-1">
            <a:extLst xmlns:a="http://schemas.openxmlformats.org/drawingml/2006/main">
              <a:ext uri="{FF2B5EF4-FFF2-40B4-BE49-F238E27FC236}">
                <a16:creationId xmlns:a16="http://schemas.microsoft.com/office/drawing/2014/main" id="{5CA3450D-D562-4A92-8B68-E0AEEB7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-2-label">
            <a:extLst xmlns:a="http://schemas.openxmlformats.org/drawingml/2006/main">
              <a:ext uri="{FF2B5EF4-FFF2-40B4-BE49-F238E27FC236}">
                <a16:creationId xmlns:a16="http://schemas.microsoft.com/office/drawing/2014/main" id="{0B75CFC8-E888-43C5-A5DF-BC17471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P2 · EXPANSION</a:t>
            </a:r>
          </a:p>
        </p:txBody>
      </p:sp>
      <p:sp>
        <p:nvSpPr>
          <p:cNvPr id="17" name="p-2-title">
            <a:extLst xmlns:a="http://schemas.openxmlformats.org/drawingml/2006/main">
              <a:ext uri="{FF2B5EF4-FFF2-40B4-BE49-F238E27FC236}">
                <a16:creationId xmlns:a16="http://schemas.microsoft.com/office/drawing/2014/main" id="{575CCE9B-EABE-456B-90B1-0A43929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CEED / NID / NIFT</a:t>
            </a:r>
          </a:p>
        </p:txBody>
      </p:sp>
      <p:sp>
        <p:nvSpPr>
          <p:cNvPr id="18" name="p-2-eta">
            <a:extLst xmlns:a="http://schemas.openxmlformats.org/drawingml/2006/main">
              <a:ext uri="{FF2B5EF4-FFF2-40B4-BE49-F238E27FC236}">
                <a16:creationId xmlns:a16="http://schemas.microsoft.com/office/drawing/2014/main" id="{3C1B0198-500D-4EB5-BA01-C37E9933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19" name="p-2-text">
            <a:extLst xmlns:a="http://schemas.openxmlformats.org/drawingml/2006/main">
              <a:ext uri="{FF2B5EF4-FFF2-40B4-BE49-F238E27FC236}">
                <a16:creationId xmlns:a16="http://schemas.microsoft.com/office/drawing/2014/main" id="{CAA6CBE8-7A69-4C6F-8210-5763704A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Acquire authoritative/licensed papers and keys; build topic/year banks; source notes, dedupe and editorial review.</a:t>
            </a:r>
          </a:p>
        </p:txBody>
      </p:sp>
      <p:sp>
        <p:nvSpPr>
          <p:cNvPr id="20" name="p-line-2">
            <a:extLst xmlns:a="http://schemas.openxmlformats.org/drawingml/2006/main">
              <a:ext uri="{FF2B5EF4-FFF2-40B4-BE49-F238E27FC236}">
                <a16:creationId xmlns:a16="http://schemas.microsoft.com/office/drawing/2014/main" id="{D61451E8-9406-4B78-BB5B-464F2D09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-3-label">
            <a:extLst xmlns:a="http://schemas.openxmlformats.org/drawingml/2006/main">
              <a:ext uri="{FF2B5EF4-FFF2-40B4-BE49-F238E27FC236}">
                <a16:creationId xmlns:a16="http://schemas.microsoft.com/office/drawing/2014/main" id="{EDD0276C-5AB4-42CD-8BBD-CCDB2A61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P3 · RETENTION</a:t>
            </a:r>
          </a:p>
        </p:txBody>
      </p:sp>
      <p:sp>
        <p:nvSpPr>
          <p:cNvPr id="22" name="p-3-title">
            <a:extLst xmlns:a="http://schemas.openxmlformats.org/drawingml/2006/main">
              <a:ext uri="{FF2B5EF4-FFF2-40B4-BE49-F238E27FC236}">
                <a16:creationId xmlns:a16="http://schemas.microsoft.com/office/drawing/2014/main" id="{760A7D66-BE42-4AF0-A1C4-9E504DEF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GK + Part B</a:t>
            </a:r>
          </a:p>
        </p:txBody>
      </p:sp>
      <p:sp>
        <p:nvSpPr>
          <p:cNvPr id="23" name="p-3-eta">
            <a:extLst xmlns:a="http://schemas.openxmlformats.org/drawingml/2006/main">
              <a:ext uri="{FF2B5EF4-FFF2-40B4-BE49-F238E27FC236}">
                <a16:creationId xmlns:a16="http://schemas.microsoft.com/office/drawing/2014/main" id="{D5B10FFD-4D45-42DA-A63F-9F7FCFF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24" name="p-3-text">
            <a:extLst xmlns:a="http://schemas.openxmlformats.org/drawingml/2006/main">
              <a:ext uri="{FF2B5EF4-FFF2-40B4-BE49-F238E27FC236}">
                <a16:creationId xmlns:a16="http://schemas.microsoft.com/office/drawing/2014/main" id="{98B2988C-0DEC-4476-98B7-6537B9D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Daily GK, cited 660+ roadmap, 121 prompt target, rubric/timer, opt-in moderated gallery.</a:t>
            </a:r>
          </a:p>
        </p:txBody>
      </p:sp>
      <p:sp>
        <p:nvSpPr>
          <p:cNvPr id="25" name="p-line-3">
            <a:extLst xmlns:a="http://schemas.openxmlformats.org/drawingml/2006/main">
              <a:ext uri="{FF2B5EF4-FFF2-40B4-BE49-F238E27FC236}">
                <a16:creationId xmlns:a16="http://schemas.microsoft.com/office/drawing/2014/main" id="{3537EAB8-541C-43CA-AC60-97BF2C8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-4-label">
            <a:extLst xmlns:a="http://schemas.openxmlformats.org/drawingml/2006/main">
              <a:ext uri="{FF2B5EF4-FFF2-40B4-BE49-F238E27FC236}">
                <a16:creationId xmlns:a16="http://schemas.microsoft.com/office/drawing/2014/main" id="{4A218124-39F6-4405-91AD-2871433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P4 · TRUST</a:t>
            </a:r>
          </a:p>
        </p:txBody>
      </p:sp>
      <p:sp>
        <p:nvSpPr>
          <p:cNvPr id="27" name="p-4-title">
            <a:extLst xmlns:a="http://schemas.openxmlformats.org/drawingml/2006/main">
              <a:ext uri="{FF2B5EF4-FFF2-40B4-BE49-F238E27FC236}">
                <a16:creationId xmlns:a16="http://schemas.microsoft.com/office/drawing/2014/main" id="{14CCC1CE-0827-47E9-A9CD-77CD9EA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719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Accounts + launch</a:t>
            </a:r>
          </a:p>
        </p:txBody>
      </p:sp>
      <p:sp>
        <p:nvSpPr>
          <p:cNvPr id="28" name="p-4-eta">
            <a:extLst xmlns:a="http://schemas.openxmlformats.org/drawingml/2006/main">
              <a:ext uri="{FF2B5EF4-FFF2-40B4-BE49-F238E27FC236}">
                <a16:creationId xmlns:a16="http://schemas.microsoft.com/office/drawing/2014/main" id="{BC3FFE19-A602-4D03-B1B2-90A7C69C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29" name="p-4-text">
            <a:extLst xmlns:a="http://schemas.openxmlformats.org/drawingml/2006/main">
              <a:ext uri="{FF2B5EF4-FFF2-40B4-BE49-F238E27FC236}">
                <a16:creationId xmlns:a16="http://schemas.microsoft.com/office/drawing/2014/main" id="{E1CAD785-853B-47C1-AEC5-7854125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Accessibility, privacy/delete, backups/restore, alerts, support, load and security acceptance.</a:t>
            </a:r>
          </a:p>
        </p:txBody>
      </p:sp>
      <p:sp>
        <p:nvSpPr>
          <p:cNvPr id="30" name="p-line-4">
            <a:extLst xmlns:a="http://schemas.openxmlformats.org/drawingml/2006/main">
              <a:ext uri="{FF2B5EF4-FFF2-40B4-BE49-F238E27FC236}">
                <a16:creationId xmlns:a16="http://schemas.microsoft.com/office/drawing/2014/main" id="{7981DC9B-F3C7-46FC-A47F-DDE0269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-5-label">
            <a:extLst xmlns:a="http://schemas.openxmlformats.org/drawingml/2006/main">
              <a:ext uri="{FF2B5EF4-FFF2-40B4-BE49-F238E27FC236}">
                <a16:creationId xmlns:a16="http://schemas.microsoft.com/office/drawing/2014/main" id="{310BD097-7B31-492C-962F-42685C24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P5 · OPTIONAL</a:t>
            </a:r>
          </a:p>
        </p:txBody>
      </p:sp>
      <p:sp>
        <p:nvSpPr>
          <p:cNvPr id="32" name="p-5-title">
            <a:extLst xmlns:a="http://schemas.openxmlformats.org/drawingml/2006/main">
              <a:ext uri="{FF2B5EF4-FFF2-40B4-BE49-F238E27FC236}">
                <a16:creationId xmlns:a16="http://schemas.microsoft.com/office/drawing/2014/main" id="{52DC5F17-9395-433D-9394-C40A0362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Paid mocks</a:t>
            </a:r>
          </a:p>
        </p:txBody>
      </p:sp>
      <p:sp>
        <p:nvSpPr>
          <p:cNvPr id="33" name="p-5-eta">
            <a:extLst xmlns:a="http://schemas.openxmlformats.org/drawingml/2006/main">
              <a:ext uri="{FF2B5EF4-FFF2-40B4-BE49-F238E27FC236}">
                <a16:creationId xmlns:a16="http://schemas.microsoft.com/office/drawing/2014/main" id="{53D75804-11F4-4625-B98E-CACFF2D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4–8 weeks</a:t>
            </a:r>
          </a:p>
        </p:txBody>
      </p:sp>
      <p:sp>
        <p:nvSpPr>
          <p:cNvPr id="34" name="p-5-text">
            <a:extLst xmlns:a="http://schemas.openxmlformats.org/drawingml/2006/main">
              <a:ext uri="{FF2B5EF4-FFF2-40B4-BE49-F238E27FC236}">
                <a16:creationId xmlns:a16="http://schemas.microsoft.com/office/drawing/2014/main" id="{E3F5D1FE-02BB-4B62-A341-5027135A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95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Registration, payments/refunds, event ops, human Part B grading, rank/dispute workflow.</a:t>
            </a:r>
          </a:p>
        </p:txBody>
      </p:sp>
      <p:sp>
        <p:nvSpPr>
          <p:cNvPr id="35" name="p-line-5">
            <a:extLst xmlns:a="http://schemas.openxmlformats.org/drawingml/2006/main">
              <a:ext uri="{FF2B5EF4-FFF2-40B4-BE49-F238E27FC236}">
                <a16:creationId xmlns:a16="http://schemas.microsoft.com/office/drawing/2014/main" id="{9B77AB91-0C48-4D35-910E-E393B44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stimate-warning">
            <a:extLst xmlns:a="http://schemas.openxmlformats.org/drawingml/2006/main">
              <a:ext uri="{FF2B5EF4-FFF2-40B4-BE49-F238E27FC236}">
                <a16:creationId xmlns:a16="http://schemas.microsoft.com/office/drawing/2014/main" id="{E8900BBA-6A53-4865-8F67-F618102D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Effort ranges are planning estimates only; revise after QA scope, content rights and reviewer capacity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1689009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25146258-9F19-4FC1-86FF-636D342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3A75D1D-03C4-492B-9D26-C03DBA8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A12BD-2882-4402-9597-A473D11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Testing can begin now; launch sign-off needs evidence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BFFE050-B244-493E-85ED-89DD61F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CE454DE-DF5D-4131-9754-717E931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Start QA now">
            <a:extLst xmlns:a="http://schemas.openxmlformats.org/drawingml/2006/main">
              <a:ext uri="{FF2B5EF4-FFF2-40B4-BE49-F238E27FC236}">
                <a16:creationId xmlns:a16="http://schemas.microsoft.com/office/drawing/2014/main" id="{E44A0EC4-1F22-4D61-A34E-B0D25CB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5105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Start QA now">
            <a:extLst xmlns:a="http://schemas.openxmlformats.org/drawingml/2006/main">
              <a:ext uri="{FF2B5EF4-FFF2-40B4-BE49-F238E27FC236}">
                <a16:creationId xmlns:a16="http://schemas.microsoft.com/office/drawing/2014/main" id="{DA9201A0-28CE-41DA-9578-69FC3F90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Start QA now</a:t>
            </a:r>
          </a:p>
        </p:txBody>
      </p:sp>
      <p:sp>
        <p:nvSpPr>
          <p:cNvPr id="8" name="card-Start QA now-line-0">
            <a:extLst xmlns:a="http://schemas.openxmlformats.org/drawingml/2006/main">
              <a:ext uri="{FF2B5EF4-FFF2-40B4-BE49-F238E27FC236}">
                <a16:creationId xmlns:a16="http://schemas.microsoft.com/office/drawing/2014/main" id="{663DB0AE-0564-4BBF-B853-24DA000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Smoke test each role and all 10 tabs</a:t>
            </a:r>
          </a:p>
        </p:txBody>
      </p:sp>
      <p:sp>
        <p:nvSpPr>
          <p:cNvPr id="9" name="card-Start QA now-line-1">
            <a:extLst xmlns:a="http://schemas.openxmlformats.org/drawingml/2006/main">
              <a:ext uri="{FF2B5EF4-FFF2-40B4-BE49-F238E27FC236}">
                <a16:creationId xmlns:a16="http://schemas.microsoft.com/office/drawing/2014/main" id="{3EB73D46-E981-43F4-8780-9C0B8D30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Paper start → save → reload → submit → result</a:t>
            </a:r>
          </a:p>
        </p:txBody>
      </p:sp>
      <p:sp>
        <p:nvSpPr>
          <p:cNvPr id="10" name="card-Start QA now-line-2">
            <a:extLst xmlns:a="http://schemas.openxmlformats.org/drawingml/2006/main">
              <a:ext uri="{FF2B5EF4-FFF2-40B4-BE49-F238E27FC236}">
                <a16:creationId xmlns:a16="http://schemas.microsoft.com/office/drawing/2014/main" id="{9DABC75E-18D7-4AFF-B6AE-A4C90F2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Check assignment boundaries and private keys</a:t>
            </a:r>
          </a:p>
        </p:txBody>
      </p:sp>
      <p:sp>
        <p:nvSpPr>
          <p:cNvPr id="11" name="card-Start QA now-line-3">
            <a:extLst xmlns:a="http://schemas.openxmlformats.org/drawingml/2006/main">
              <a:ext uri="{FF2B5EF4-FFF2-40B4-BE49-F238E27FC236}">
                <a16:creationId xmlns:a16="http://schemas.microsoft.com/office/drawing/2014/main" id="{6C001B3B-975B-4AF2-B150-8412930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Verify imports / images / mobile / keyboard</a:t>
            </a:r>
          </a:p>
        </p:txBody>
      </p:sp>
      <p:sp>
        <p:nvSpPr>
          <p:cNvPr id="12" name="card-Start QA now-line-4">
            <a:extLst xmlns:a="http://schemas.openxmlformats.org/drawingml/2006/main">
              <a:ext uri="{FF2B5EF4-FFF2-40B4-BE49-F238E27FC236}">
                <a16:creationId xmlns:a16="http://schemas.microsoft.com/office/drawing/2014/main" id="{5C4732DB-AE02-4937-B783-F8AEECF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Log reproducible defects; retest fixes</a:t>
            </a:r>
          </a:p>
        </p:txBody>
      </p:sp>
      <p:sp>
        <p:nvSpPr>
          <p:cNvPr id="13" name="card-Before production sign-off">
            <a:extLst xmlns:a="http://schemas.openxmlformats.org/drawingml/2006/main">
              <a:ext uri="{FF2B5EF4-FFF2-40B4-BE49-F238E27FC236}">
                <a16:creationId xmlns:a16="http://schemas.microsoft.com/office/drawing/2014/main" id="{5559B905-C449-47A8-A7C7-02E86E4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5105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4" name="card-title-Before production sign-off">
            <a:extLst xmlns:a="http://schemas.openxmlformats.org/drawingml/2006/main">
              <a:ext uri="{FF2B5EF4-FFF2-40B4-BE49-F238E27FC236}">
                <a16:creationId xmlns:a16="http://schemas.microsoft.com/office/drawing/2014/main" id="{69E8BDEA-8A08-4932-BB1B-D1B71524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Before production sign-off</a:t>
            </a:r>
          </a:p>
        </p:txBody>
      </p:sp>
      <p:sp>
        <p:nvSpPr>
          <p:cNvPr id="15" name="card-Before production sign-off-line-0">
            <a:extLst xmlns:a="http://schemas.openxmlformats.org/drawingml/2006/main">
              <a:ext uri="{FF2B5EF4-FFF2-40B4-BE49-F238E27FC236}">
                <a16:creationId xmlns:a16="http://schemas.microsoft.com/office/drawing/2014/main" id="{EAF33DCF-58DE-4BBD-8AC9-20178D3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Deployed environment + HTTPS/origin check</a:t>
            </a:r>
          </a:p>
        </p:txBody>
      </p:sp>
      <p:sp>
        <p:nvSpPr>
          <p:cNvPr id="16" name="card-Before production sign-off-line-1">
            <a:extLst xmlns:a="http://schemas.openxmlformats.org/drawingml/2006/main">
              <a:ext uri="{FF2B5EF4-FFF2-40B4-BE49-F238E27FC236}">
                <a16:creationId xmlns:a16="http://schemas.microsoft.com/office/drawing/2014/main" id="{13D5A4E7-2686-4DB8-9EEE-1A8AB36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Real database migration + backup restore</a:t>
            </a:r>
          </a:p>
        </p:txBody>
      </p:sp>
      <p:sp>
        <p:nvSpPr>
          <p:cNvPr id="17" name="card-Before production sign-off-line-2">
            <a:extLst xmlns:a="http://schemas.openxmlformats.org/drawingml/2006/main">
              <a:ext uri="{FF2B5EF4-FFF2-40B4-BE49-F238E27FC236}">
                <a16:creationId xmlns:a16="http://schemas.microsoft.com/office/drawing/2014/main" id="{CA74DAC5-7150-4CAD-8959-B534549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OTP and account lifecycle end-to-end</a:t>
            </a:r>
          </a:p>
        </p:txBody>
      </p:sp>
      <p:sp>
        <p:nvSpPr>
          <p:cNvPr id="18" name="card-Before production sign-off-line-3">
            <a:extLst xmlns:a="http://schemas.openxmlformats.org/drawingml/2006/main">
              <a:ext uri="{FF2B5EF4-FFF2-40B4-BE49-F238E27FC236}">
                <a16:creationId xmlns:a16="http://schemas.microsoft.com/office/drawing/2014/main" id="{01087883-248E-40DE-8687-7D8AB46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Production-scale load + monitoring / alert test</a:t>
            </a:r>
          </a:p>
        </p:txBody>
      </p:sp>
      <p:sp>
        <p:nvSpPr>
          <p:cNvPr id="19" name="card-Before production sign-off-line-4">
            <a:extLst xmlns:a="http://schemas.openxmlformats.org/drawingml/2006/main">
              <a:ext uri="{FF2B5EF4-FFF2-40B4-BE49-F238E27FC236}">
                <a16:creationId xmlns:a16="http://schemas.microsoft.com/office/drawing/2014/main" id="{DF241B7A-6145-4F8C-B6D9-F143B93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Privacy, support, rollback and content sign-off</a:t>
            </a:r>
          </a:p>
        </p:txBody>
      </p:sp>
      <p:sp>
        <p:nvSpPr>
          <p:cNvPr id="20" name="testing-decision">
            <a:extLst xmlns:a="http://schemas.openxmlformats.org/drawingml/2006/main">
              <a:ext uri="{FF2B5EF4-FFF2-40B4-BE49-F238E27FC236}">
                <a16:creationId xmlns:a16="http://schemas.microsoft.com/office/drawing/2014/main" id="{4AFE8B83-9DD3-4C01-9B13-D3DF043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final “debug” pass found no failing automated or browser checks. It found an import-parity backlog and unverified hosted release gates.</a:t>
            </a:r>
          </a:p>
        </p:txBody>
      </p:sp>
    </p:spTree>
    <p:extLst>
      <p:ext uri="{BB962C8B-B14F-4D97-AF65-F5344CB8AC3E}">
        <p14:creationId xmlns:p14="http://schemas.microsoft.com/office/powerpoint/2010/main" val="1980576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916223D4-D1A3-4D2C-B0C5-0346A17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741617F-D3E1-4479-858C-9DD2327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REFERENCES • SNAPSHOT 05 OCT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4EBFB-B0FF-4145-B8DD-8627F64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Sources &amp; evidence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BC0A1B1-3918-4333-A256-198A79C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8BD4FB-7524-4762-B982-7FCB223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6C5502E-5E96-4A2A-9CB4-1A05F2A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47C1FD5-A430-46A7-82FD-2AF62A8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97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Local repo: PROGRESS_LOG.md, CODEX_TASK_PLAN.md, ANTIGRAVITY_TASK_PLAN.md, scripts/seed-exams.js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2580F3-7FA9-4CE1-B21C-80CD0F7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808793A-84C1-4A8F-B796-EF007079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Local checks: npm test output (87/87); scratch/verify-chrome-browser.js (41/41); reports/phase5-browser-evidence.json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A02D17A-E046-4FC3-9DA6-603A597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932FDD1-0B6B-424F-B480-F4D0CDAA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PDF inventory: recursive file list, pdfinfo page counts, SHA-256 duplicate check; isolated SQLite seed audit (16 / 915)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E2ED3AD-49CE-4A1C-B8A8-E81CD4B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E93A258A-CCFD-4A4F-B47D-F190B9D4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roughworks.in/papers/uceed • /papers/ceed • /papers/nid-ug • /papers/nift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F63E8A4F-D4EF-4FBD-8FDE-C16F324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7AE5CAFB-9F74-42C0-8AFA-C31B3582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roughworks.in/syllabus/uceed • /syllabus/ceed • /exams</a:t>
            </a:r>
          </a:p>
        </p:txBody>
      </p:sp>
      <p:sp>
        <p:nvSpPr>
          <p:cNvPr id="16" name="bullet-5">
            <a:extLst xmlns:a="http://schemas.openxmlformats.org/drawingml/2006/main">
              <a:ext uri="{FF2B5EF4-FFF2-40B4-BE49-F238E27FC236}">
                <a16:creationId xmlns:a16="http://schemas.microsoft.com/office/drawing/2014/main" id="{7AD4A734-6D15-47FE-AD31-5C138FA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AEC9651D-6C36-4537-9B7D-B85E886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roughworks.in/gk • /drawings • /guides • /privacy • homepage event/dashboard</a:t>
            </a:r>
          </a:p>
        </p:txBody>
      </p:sp>
      <p:sp>
        <p:nvSpPr>
          <p:cNvPr id="18" name="bullet-6">
            <a:extLst xmlns:a="http://schemas.openxmlformats.org/drawingml/2006/main">
              <a:ext uri="{FF2B5EF4-FFF2-40B4-BE49-F238E27FC236}">
                <a16:creationId xmlns:a16="http://schemas.microsoft.com/office/drawing/2014/main" id="{7BAB5CE9-2F3B-41DB-98B2-D21B50E1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9CE3EA9A-5C34-4B07-9766-D0CFD096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Competitor figures are a dated public snapshot; local totals are configured fixtures only. Estimates and backlog priorities are recommendations.</a:t>
            </a:r>
          </a:p>
        </p:txBody>
      </p:sp>
      <p:sp>
        <p:nvSpPr>
          <p:cNvPr id="20" name="source-date">
            <a:extLst xmlns:a="http://schemas.openxmlformats.org/drawingml/2006/main">
              <a:ext uri="{FF2B5EF4-FFF2-40B4-BE49-F238E27FC236}">
                <a16:creationId xmlns:a16="http://schemas.microsoft.com/office/drawing/2014/main" id="{A442CB32-DB71-41A7-AAF7-BD58268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3D9C3"/>
                </a:solidFill>
                <a:latin typeface="Arial"/>
                <a:ea typeface="Arial"/>
                <a:cs typeface="Arial"/>
              </a:rPr>
              <a:t>No user data, API keys, secret values or production credentials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1058978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2026-10-05T18:47:07.0800000Z</dcterms:created>
  <dcterms:modified xsi:type="dcterms:W3CDTF">2026-10-05T18:47:07.0800000Z</dcterms:modified>
</coreProperties>
</file>